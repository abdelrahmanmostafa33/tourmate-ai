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39"/>
  </p:notesMasterIdLst>
  <p:sldIdLst>
    <p:sldId id="304" r:id="rId5"/>
    <p:sldId id="314" r:id="rId6"/>
    <p:sldId id="318" r:id="rId7"/>
    <p:sldId id="308" r:id="rId8"/>
    <p:sldId id="319" r:id="rId9"/>
    <p:sldId id="320" r:id="rId10"/>
    <p:sldId id="321" r:id="rId11"/>
    <p:sldId id="322" r:id="rId12"/>
    <p:sldId id="325" r:id="rId13"/>
    <p:sldId id="343" r:id="rId14"/>
    <p:sldId id="324" r:id="rId15"/>
    <p:sldId id="311" r:id="rId16"/>
    <p:sldId id="348" r:id="rId17"/>
    <p:sldId id="330" r:id="rId18"/>
    <p:sldId id="329" r:id="rId19"/>
    <p:sldId id="332" r:id="rId20"/>
    <p:sldId id="349" r:id="rId21"/>
    <p:sldId id="338" r:id="rId22"/>
    <p:sldId id="337" r:id="rId23"/>
    <p:sldId id="334" r:id="rId24"/>
    <p:sldId id="335" r:id="rId25"/>
    <p:sldId id="351" r:id="rId26"/>
    <p:sldId id="323" r:id="rId27"/>
    <p:sldId id="339" r:id="rId28"/>
    <p:sldId id="352" r:id="rId29"/>
    <p:sldId id="353" r:id="rId30"/>
    <p:sldId id="354" r:id="rId31"/>
    <p:sldId id="355" r:id="rId32"/>
    <p:sldId id="326" r:id="rId33"/>
    <p:sldId id="340" r:id="rId34"/>
    <p:sldId id="327" r:id="rId35"/>
    <p:sldId id="317" r:id="rId36"/>
    <p:sldId id="350" r:id="rId37"/>
    <p:sldId id="305" r:id="rId3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4" name="Author" initials="A" lastIdx="0" clrIdx="3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66B2B0"/>
    <a:srgbClr val="0A4054"/>
    <a:srgbClr val="F39891"/>
    <a:srgbClr val="468C8A"/>
    <a:srgbClr val="FAD6D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2435" autoAdjust="0"/>
    <p:restoredTop sz="93750" autoAdjust="0"/>
  </p:normalViewPr>
  <p:slideViewPr>
    <p:cSldViewPr snapToGrid="0">
      <p:cViewPr varScale="1">
        <p:scale>
          <a:sx n="114" d="100"/>
          <a:sy n="114" d="100"/>
        </p:scale>
        <p:origin x="618" y="102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notesMaster" Target="notesMasters/notesMaster1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viewProps" Target="viewProps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commentAuthors" Target="commentAuthors.xml"/><Relationship Id="rId45" Type="http://schemas.microsoft.com/office/2018/10/relationships/authors" Target="author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theme" Target="theme/theme1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20" Type="http://schemas.openxmlformats.org/officeDocument/2006/relationships/slide" Target="slides/slide16.xml"/><Relationship Id="rId41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7D16CA8-7DCC-4F2C-A1EF-C632B9D3E96D}" type="datetimeFigureOut">
              <a:rPr lang="en-US" smtClean="0"/>
              <a:t>2/27/2023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B990660-4B7D-4C11-96DB-B19FFA8CA9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Rectangle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6.53</a:t>
            </a:r>
          </a:p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anchor="b">
            <a:normAutofit/>
          </a:bodyPr>
          <a:lstStyle>
            <a:lvl1pPr algn="l">
              <a:defRPr sz="3800" b="1"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grpSp>
        <p:nvGrpSpPr>
          <p:cNvPr id="10" name="Picture Placeholder 16" descr="abstract colorful illustration of buildings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bout 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816352"/>
            <a:ext cx="4114800" cy="2779776"/>
          </a:xfrm>
        </p:spPr>
        <p:txBody>
          <a:bodyPr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grpSp>
        <p:nvGrpSpPr>
          <p:cNvPr id="971" name="Picture Placeholder 986" descr="abstract colorful illustration of buildings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Picture Placeholder 57" descr="abstract colorful illustration of buildings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Text Placeholder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olu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Picture Placeholder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Text Placeholder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/>
          <a:lstStyle>
            <a:lvl1pPr algn="l">
              <a:defRPr/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roduct Overview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Picture Placeholder 1029" descr="abstract colorful illustration of buildings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9" name="Text Placeholder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Pitch deck title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roduct Benefi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34" name="Text Placeholder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35" name="Text Placeholder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 dirty="0"/>
              <a:t>CLICK TO EDIT TITLE</a:t>
            </a:r>
          </a:p>
        </p:txBody>
      </p:sp>
      <p:grpSp>
        <p:nvGrpSpPr>
          <p:cNvPr id="7" name="Picture Placeholder 795" descr="abstract colorful illustration of buildings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Business Mod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0" name="Text Placeholder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2</a:t>
            </a:r>
            <a:endParaRPr lang="en-ZA" dirty="0"/>
          </a:p>
        </p:txBody>
      </p:sp>
      <p:sp>
        <p:nvSpPr>
          <p:cNvPr id="16" name="Text Placeholder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3</a:t>
            </a:r>
            <a:endParaRPr lang="en-ZA" dirty="0"/>
          </a:p>
        </p:txBody>
      </p:sp>
      <p:sp>
        <p:nvSpPr>
          <p:cNvPr id="24" name="Text Placeholder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4</a:t>
            </a:r>
            <a:endParaRPr lang="en-ZA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Market Overvie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dirty="0"/>
              <a:t>1</a:t>
            </a:r>
            <a:endParaRPr lang="en-ZA" dirty="0"/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2</a:t>
            </a:r>
            <a:endParaRPr lang="en-ZA" dirty="0"/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3</a:t>
            </a:r>
            <a:endParaRPr lang="en-ZA" dirty="0"/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4" name="Date Placeholder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Market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EDIT TITLE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dirty="0"/>
              <a:t>1</a:t>
            </a:r>
            <a:endParaRPr lang="en-ZA" dirty="0"/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2</a:t>
            </a:r>
            <a:endParaRPr lang="en-ZA" dirty="0"/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3</a:t>
            </a:r>
            <a:endParaRPr lang="en-ZA" dirty="0"/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19" name="Date Placeholder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4114800" cy="3081971"/>
          </a:xfrm>
        </p:spPr>
        <p:txBody>
          <a:bodyPr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4114800" cy="3081971"/>
          </a:xfrm>
        </p:spPr>
        <p:txBody>
          <a:bodyPr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Quadra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Date Placeholder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Growth Strategy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2" name="Text Placeholder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4" name="Text Placeholder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20" name="Text Placeholder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1" name="Text Placeholder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3" name="Text Placeholder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grpSp>
        <p:nvGrpSpPr>
          <p:cNvPr id="956" name="Picture Placeholder 1925" descr="abstract colorful illustration of buildings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959" name="Footer Placeholder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72768" y="704088"/>
            <a:ext cx="9052560" cy="640080"/>
          </a:xfrm>
        </p:spPr>
        <p:txBody>
          <a:bodyPr/>
          <a:lstStyle>
            <a:lvl1pPr algn="ctr"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3544" y="2670048"/>
            <a:ext cx="4901184" cy="32004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364224" y="2532888"/>
            <a:ext cx="5166360" cy="369417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39" name="Text Placeholder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Year</a:t>
            </a:r>
            <a:endParaRPr lang="en-ZA" dirty="0"/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1" name="Text Placeholder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4" name="Text Placeholder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Year</a:t>
            </a:r>
            <a:endParaRPr lang="en-ZA" dirty="0"/>
          </a:p>
        </p:txBody>
      </p:sp>
      <p:sp>
        <p:nvSpPr>
          <p:cNvPr id="45" name="Text Placeholder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1" name="Text Placeholder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2" name="Text Placeholder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5" name="Text Placeholder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7" name="Text Placeholder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8" name="Text Placeholder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9" name="Text Placeholder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0" name="Text Placeholder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1" name="Text Placeholder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2" name="Text Placeholder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xt Placeholder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Item Title</a:t>
            </a:r>
            <a:endParaRPr lang="en-ZA" dirty="0"/>
          </a:p>
        </p:txBody>
      </p:sp>
      <p:sp>
        <p:nvSpPr>
          <p:cNvPr id="67" name="Text Placeholder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dirty="0"/>
              <a:t>Month, Year</a:t>
            </a:r>
            <a:endParaRPr lang="en-ZA" dirty="0"/>
          </a:p>
        </p:txBody>
      </p:sp>
      <p:sp>
        <p:nvSpPr>
          <p:cNvPr id="68" name="Date Placeholder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Financ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5924" y="1825625"/>
            <a:ext cx="10360152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eam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5" name="Picture Placeholder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9" name="Picture Placeholder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3" name="Picture Placeholder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eam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1" name="Picture Placeholder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3" name="Picture Placeholder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" name="Picture Placeholder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7" name="Picture Placeholder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5" name="Text Placeholder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9" name="Text Placeholder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0" name="Text Placeholder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33" name="Text Placeholder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4" name="Text Placeholder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37" name="Text Placeholder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8" name="Text Placeholder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Picture Placeholder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Picture Placeholder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Picture Placeholder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Picture Placeholder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un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8" name="Content Placeholder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Content Placeholder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0" name="Content Placeholder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2" name="Text Placeholder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6" name="Text Placeholder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Text Placeholder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Text Placeholder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1" name="Text Placeholder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Text Placeholder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Summary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Picture Placeholder 20" descr="abstract colorful illustration of buildings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/>
          <a:lstStyle/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75" name="Text Placeholder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117336" y="2816352"/>
            <a:ext cx="4114800" cy="2779776"/>
          </a:xfrm>
        </p:spPr>
        <p:txBody>
          <a:bodyPr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hank You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anchor="b" anchorCtr="0"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grpSp>
        <p:nvGrpSpPr>
          <p:cNvPr id="10" name="Picture Placeholder 44" descr="abstract colorful illustration of buildings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9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8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6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9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9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image" Target="../media/image9.jpg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12.png"/><Relationship Id="rId4" Type="http://schemas.openxmlformats.org/officeDocument/2006/relationships/image" Target="../media/image11.jp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15.jpg"/><Relationship Id="rId4" Type="http://schemas.openxmlformats.org/officeDocument/2006/relationships/image" Target="../media/image12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12.png"/><Relationship Id="rId4" Type="http://schemas.openxmlformats.org/officeDocument/2006/relationships/image" Target="../media/image18.jp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21.jpg"/><Relationship Id="rId4" Type="http://schemas.openxmlformats.org/officeDocument/2006/relationships/image" Target="../media/image20.jp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g"/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12.png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9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384111" y="2140850"/>
            <a:ext cx="4379976" cy="1547583"/>
          </a:xfrm>
        </p:spPr>
        <p:txBody>
          <a:bodyPr/>
          <a:lstStyle/>
          <a:p>
            <a:pPr algn="ctr"/>
            <a:r>
              <a:rPr lang="en-US" dirty="0"/>
              <a:t>safe kids</a:t>
            </a:r>
            <a:br>
              <a:rPr lang="en-US" dirty="0"/>
            </a:br>
            <a:r>
              <a:rPr lang="en-US" sz="1800" dirty="0"/>
              <a:t>2022 - 2023</a:t>
            </a:r>
            <a:endParaRPr lang="en-US" dirty="0"/>
          </a:p>
        </p:txBody>
      </p:sp>
      <p:sp>
        <p:nvSpPr>
          <p:cNvPr id="2" name="Google Shape;100;p19">
            <a:extLst>
              <a:ext uri="{FF2B5EF4-FFF2-40B4-BE49-F238E27FC236}">
                <a16:creationId xmlns:a16="http://schemas.microsoft.com/office/drawing/2014/main" id="{583611FF-1913-A1DF-6657-82471EF8F38E}"/>
              </a:ext>
            </a:extLst>
          </p:cNvPr>
          <p:cNvSpPr txBox="1">
            <a:spLocks/>
          </p:cNvSpPr>
          <p:nvPr/>
        </p:nvSpPr>
        <p:spPr>
          <a:xfrm>
            <a:off x="5462727" y="338721"/>
            <a:ext cx="2824023" cy="1083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90204" pitchFamily="34" charset="0"/>
              <a:buChar char="•"/>
              <a:defRPr sz="2800" kern="1200">
                <a:solidFill>
                  <a:schemeClr val="tx1"/>
                </a:solidFill>
                <a:latin typeface="Yeseva One" panose="00000500000000000000" charset="0"/>
                <a:ea typeface="Yeseva One" panose="00000500000000000000" charset="0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2400" kern="1200">
                <a:solidFill>
                  <a:schemeClr val="tx1"/>
                </a:solidFill>
                <a:latin typeface="Yeseva One" panose="00000500000000000000" charset="0"/>
                <a:ea typeface="Yeseva One" panose="00000500000000000000" charset="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2000" kern="1200">
                <a:solidFill>
                  <a:schemeClr val="tx1"/>
                </a:solidFill>
                <a:latin typeface="Yeseva One" panose="00000500000000000000" charset="0"/>
                <a:ea typeface="Yeseva One" panose="00000500000000000000" charset="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Yeseva One" panose="00000500000000000000" charset="0"/>
                <a:ea typeface="Yeseva One" panose="00000500000000000000" charset="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Yeseva One" panose="00000500000000000000" charset="0"/>
                <a:ea typeface="Yeseva One" panose="00000500000000000000" charset="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90204" pitchFamily="34" charset="0"/>
              <a:buNone/>
            </a:pPr>
            <a:r>
              <a:rPr lang="en-US" sz="1400" dirty="0"/>
              <a:t>Cairo University</a:t>
            </a:r>
          </a:p>
          <a:p>
            <a:pPr marL="0" indent="0">
              <a:spcBef>
                <a:spcPts val="0"/>
              </a:spcBef>
              <a:buFont typeface="Arial" panose="020B0604020202090204" pitchFamily="34" charset="0"/>
              <a:buNone/>
            </a:pPr>
            <a:r>
              <a:rPr lang="en-US" sz="1400" dirty="0"/>
              <a:t>Faculty of Computers and Artificial intelligence</a:t>
            </a:r>
          </a:p>
          <a:p>
            <a:pPr marL="0" indent="0">
              <a:spcBef>
                <a:spcPts val="0"/>
              </a:spcBef>
              <a:buFont typeface="Arial" panose="020B0604020202090204" pitchFamily="34" charset="0"/>
              <a:buNone/>
            </a:pPr>
            <a:r>
              <a:rPr lang="en-US" sz="1400" dirty="0"/>
              <a:t>Department of Information Systems</a:t>
            </a:r>
          </a:p>
          <a:p>
            <a:pPr marL="0" indent="0">
              <a:spcBef>
                <a:spcPts val="0"/>
              </a:spcBef>
              <a:buFont typeface="Arial" panose="020B0604020202090204" pitchFamily="34" charset="0"/>
              <a:buNone/>
            </a:pPr>
            <a:endParaRPr lang="en-US" sz="1400" dirty="0"/>
          </a:p>
          <a:p>
            <a:pPr marL="0" indent="0">
              <a:spcBef>
                <a:spcPts val="0"/>
              </a:spcBef>
              <a:buFont typeface="Arial" panose="020B0604020202090204" pitchFamily="34" charset="0"/>
              <a:buNone/>
            </a:pPr>
            <a:endParaRPr lang="en-US" sz="1400" dirty="0"/>
          </a:p>
        </p:txBody>
      </p:sp>
      <p:pic>
        <p:nvPicPr>
          <p:cNvPr id="3" name="Google Shape;105;p19">
            <a:extLst>
              <a:ext uri="{FF2B5EF4-FFF2-40B4-BE49-F238E27FC236}">
                <a16:creationId xmlns:a16="http://schemas.microsoft.com/office/drawing/2014/main" id="{CB346181-0F6E-B631-5891-D5630C153FE5}"/>
              </a:ext>
            </a:extLst>
          </p:cNvPr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4472127" y="342692"/>
            <a:ext cx="866400" cy="8523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2465D3EC-A4E7-FC15-4FD0-12E2A224FC67}"/>
              </a:ext>
            </a:extLst>
          </p:cNvPr>
          <p:cNvSpPr txBox="1"/>
          <p:nvPr/>
        </p:nvSpPr>
        <p:spPr>
          <a:xfrm>
            <a:off x="6886576" y="4905568"/>
            <a:ext cx="5305424" cy="161371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600" b="1" dirty="0">
                <a:solidFill>
                  <a:srgbClr val="000000"/>
                </a:solidFill>
                <a:effectLst/>
                <a:latin typeface="+mj-lt"/>
                <a:ea typeface="Century Gothic" panose="020B0502020202020204" pitchFamily="34" charset="0"/>
              </a:rPr>
              <a:t>Under the Supervision of:</a:t>
            </a:r>
            <a:endParaRPr lang="en-US" sz="1400" b="1" dirty="0">
              <a:effectLst/>
              <a:latin typeface="+mj-lt"/>
              <a:ea typeface="Calibri" panose="020F0502020204030204" pitchFamily="34" charset="0"/>
            </a:endParaRPr>
          </a:p>
          <a:p>
            <a:pPr marL="0" marR="0" indent="45720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dirty="0">
                <a:solidFill>
                  <a:srgbClr val="000000"/>
                </a:solidFill>
                <a:effectLst/>
                <a:ea typeface="Calibri" panose="020F0502020204030204" pitchFamily="34" charset="0"/>
              </a:rPr>
              <a:t>Dr</a:t>
            </a:r>
            <a:r>
              <a:rPr lang="en-US" dirty="0">
                <a:solidFill>
                  <a:srgbClr val="000000"/>
                </a:solidFill>
                <a:ea typeface="Calibri" panose="020F0502020204030204" pitchFamily="34" charset="0"/>
              </a:rPr>
              <a:t>.</a:t>
            </a:r>
            <a:r>
              <a:rPr lang="en-US" b="1" dirty="0">
                <a:solidFill>
                  <a:srgbClr val="000000"/>
                </a:solidFill>
                <a:effectLst/>
                <a:ea typeface="Calibri" panose="020F0502020204030204" pitchFamily="34" charset="0"/>
              </a:rPr>
              <a:t> </a:t>
            </a:r>
            <a:r>
              <a:rPr lang="en-US" dirty="0">
                <a:solidFill>
                  <a:srgbClr val="000000"/>
                </a:solidFill>
                <a:effectLst/>
                <a:ea typeface="Calibri" panose="020F0502020204030204" pitchFamily="34" charset="0"/>
              </a:rPr>
              <a:t>Laila Abdelrahman Mohamed </a:t>
            </a:r>
            <a:r>
              <a:rPr lang="en-US" dirty="0" err="1">
                <a:solidFill>
                  <a:srgbClr val="000000"/>
                </a:solidFill>
                <a:effectLst/>
                <a:ea typeface="Calibri" panose="020F0502020204030204" pitchFamily="34" charset="0"/>
              </a:rPr>
              <a:t>Esheiba</a:t>
            </a:r>
            <a:endParaRPr lang="en-US" sz="1400" dirty="0">
              <a:effectLst/>
              <a:ea typeface="Calibri" panose="020F0502020204030204" pitchFamily="34" charset="0"/>
            </a:endParaRPr>
          </a:p>
          <a:p>
            <a:pPr marL="0" marR="0" indent="45720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dirty="0">
                <a:solidFill>
                  <a:srgbClr val="000000"/>
                </a:solidFill>
                <a:effectLst/>
                <a:ea typeface="Calibri" panose="020F0502020204030204" pitchFamily="34" charset="0"/>
              </a:rPr>
              <a:t>TA.  Fatma Hussein </a:t>
            </a:r>
            <a:endParaRPr lang="en-US" sz="1400" dirty="0">
              <a:effectLst/>
              <a:ea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89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19F29B-F233-48AF-8261-F33A4E079E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993358"/>
          </a:xfrm>
        </p:spPr>
        <p:txBody>
          <a:bodyPr>
            <a:normAutofit/>
          </a:bodyPr>
          <a:lstStyle/>
          <a:p>
            <a:r>
              <a:rPr lang="en-ZA" dirty="0"/>
              <a:t>Outlines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DF477A88-2AF7-461F-A62A-2370C03845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pPr/>
              <a:t>2</a:t>
            </a:fld>
            <a:endParaRPr lang="en-US" sz="1600" b="1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91EB357-3337-841B-5FF8-109E76ACA451}"/>
              </a:ext>
            </a:extLst>
          </p:cNvPr>
          <p:cNvGrpSpPr/>
          <p:nvPr/>
        </p:nvGrpSpPr>
        <p:grpSpPr>
          <a:xfrm>
            <a:off x="1521478" y="1296541"/>
            <a:ext cx="2754416" cy="516279"/>
            <a:chOff x="1460166" y="1586185"/>
            <a:chExt cx="2754416" cy="516279"/>
          </a:xfrm>
        </p:grpSpPr>
        <p:sp>
          <p:nvSpPr>
            <p:cNvPr id="1000" name="圆角矩形 55">
              <a:extLst>
                <a:ext uri="{FF2B5EF4-FFF2-40B4-BE49-F238E27FC236}">
                  <a16:creationId xmlns:a16="http://schemas.microsoft.com/office/drawing/2014/main" id="{9D9EEFB9-4127-FF79-5C0F-0FFEC08E444A}"/>
                </a:ext>
              </a:extLst>
            </p:cNvPr>
            <p:cNvSpPr/>
            <p:nvPr/>
          </p:nvSpPr>
          <p:spPr>
            <a:xfrm>
              <a:off x="2082550" y="1615974"/>
              <a:ext cx="2132032" cy="457200"/>
            </a:xfrm>
            <a:prstGeom prst="roundRect">
              <a:avLst/>
            </a:prstGeom>
            <a:no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dirty="0">
                  <a:solidFill>
                    <a:schemeClr val="accent1"/>
                  </a:solidFill>
                  <a:latin typeface="Yeseva One" panose="00000500000000000000" charset="0"/>
                  <a:ea typeface="Yeseva One" panose="00000500000000000000" charset="0"/>
                </a:rPr>
                <a:t> </a:t>
              </a:r>
              <a:endParaRPr lang="zh-CN" altLang="en-US" sz="1600" dirty="0">
                <a:solidFill>
                  <a:schemeClr val="accent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  <p:sp>
          <p:nvSpPr>
            <p:cNvPr id="1002" name="圆角矩形 57">
              <a:extLst>
                <a:ext uri="{FF2B5EF4-FFF2-40B4-BE49-F238E27FC236}">
                  <a16:creationId xmlns:a16="http://schemas.microsoft.com/office/drawing/2014/main" id="{234EDAEE-8E5A-736C-0F96-FA8A6EAC2517}"/>
                </a:ext>
              </a:extLst>
            </p:cNvPr>
            <p:cNvSpPr/>
            <p:nvPr/>
          </p:nvSpPr>
          <p:spPr>
            <a:xfrm>
              <a:off x="1460166" y="1586185"/>
              <a:ext cx="528463" cy="473956"/>
            </a:xfrm>
            <a:prstGeom prst="round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dirty="0">
                  <a:solidFill>
                    <a:schemeClr val="accent1"/>
                  </a:solidFill>
                  <a:latin typeface="Yeseva One" panose="00000500000000000000" charset="0"/>
                  <a:ea typeface="Yeseva One" panose="00000500000000000000" charset="0"/>
                </a:rPr>
                <a:t> </a:t>
              </a:r>
              <a:endParaRPr lang="zh-CN" altLang="en-US" sz="1600" dirty="0">
                <a:solidFill>
                  <a:schemeClr val="accent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  <p:sp>
          <p:nvSpPr>
            <p:cNvPr id="1003" name="文本框 48">
              <a:extLst>
                <a:ext uri="{FF2B5EF4-FFF2-40B4-BE49-F238E27FC236}">
                  <a16:creationId xmlns:a16="http://schemas.microsoft.com/office/drawing/2014/main" id="{8CAE371E-FC5E-5CAD-294C-806F4B7C72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8966" y="1648172"/>
              <a:ext cx="687309" cy="454292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 wrap="square">
              <a:spAutoFit/>
            </a:bodyPr>
            <a:lstStyle/>
            <a:p>
              <a:r>
                <a:rPr lang="en-US" altLang="zh-CN" dirty="0">
                  <a:solidFill>
                    <a:schemeClr val="bg1"/>
                  </a:solidFill>
                  <a:latin typeface="Yeseva One" panose="00000500000000000000" charset="0"/>
                  <a:ea typeface="Yeseva One" panose="00000500000000000000" charset="0"/>
                </a:rPr>
                <a:t>01</a:t>
              </a:r>
              <a:endParaRPr lang="zh-CN" altLang="en-US" dirty="0">
                <a:solidFill>
                  <a:schemeClr val="bg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8C665282-3A46-1FD3-AE03-7AB8885B1E60}"/>
              </a:ext>
            </a:extLst>
          </p:cNvPr>
          <p:cNvGrpSpPr/>
          <p:nvPr/>
        </p:nvGrpSpPr>
        <p:grpSpPr>
          <a:xfrm>
            <a:off x="1521477" y="2006901"/>
            <a:ext cx="2754418" cy="533478"/>
            <a:chOff x="1473779" y="2239562"/>
            <a:chExt cx="2754418" cy="533478"/>
          </a:xfrm>
        </p:grpSpPr>
        <p:sp>
          <p:nvSpPr>
            <p:cNvPr id="89" name="圆角矩形 55">
              <a:extLst>
                <a:ext uri="{FF2B5EF4-FFF2-40B4-BE49-F238E27FC236}">
                  <a16:creationId xmlns:a16="http://schemas.microsoft.com/office/drawing/2014/main" id="{9D9EEFB9-4127-FF79-5C0F-0FFEC08E444A}"/>
                </a:ext>
              </a:extLst>
            </p:cNvPr>
            <p:cNvSpPr/>
            <p:nvPr/>
          </p:nvSpPr>
          <p:spPr>
            <a:xfrm>
              <a:off x="2096164" y="2250159"/>
              <a:ext cx="2132033" cy="454293"/>
            </a:xfrm>
            <a:prstGeom prst="roundRect">
              <a:avLst/>
            </a:prstGeom>
            <a:no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dirty="0">
                  <a:solidFill>
                    <a:schemeClr val="accent1"/>
                  </a:solidFill>
                  <a:latin typeface="Yeseva One" panose="00000500000000000000" charset="0"/>
                  <a:ea typeface="Yeseva One" panose="00000500000000000000" charset="0"/>
                </a:rPr>
                <a:t> </a:t>
              </a:r>
              <a:endParaRPr lang="zh-CN" altLang="en-US" sz="1600" dirty="0">
                <a:solidFill>
                  <a:schemeClr val="accent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  <p:sp>
          <p:nvSpPr>
            <p:cNvPr id="1007" name="圆角矩形 62">
              <a:extLst>
                <a:ext uri="{FF2B5EF4-FFF2-40B4-BE49-F238E27FC236}">
                  <a16:creationId xmlns:a16="http://schemas.microsoft.com/office/drawing/2014/main" id="{743591ED-6B8F-ACE1-0503-81D8F27C923C}"/>
                </a:ext>
              </a:extLst>
            </p:cNvPr>
            <p:cNvSpPr/>
            <p:nvPr/>
          </p:nvSpPr>
          <p:spPr>
            <a:xfrm>
              <a:off x="1473779" y="2239562"/>
              <a:ext cx="530352" cy="475488"/>
            </a:xfrm>
            <a:prstGeom prst="round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dirty="0">
                  <a:solidFill>
                    <a:schemeClr val="accent1"/>
                  </a:solidFill>
                  <a:latin typeface="Yeseva One" panose="00000500000000000000" charset="0"/>
                  <a:ea typeface="Yeseva One" panose="00000500000000000000" charset="0"/>
                </a:rPr>
                <a:t> </a:t>
              </a:r>
              <a:endParaRPr lang="zh-CN" altLang="en-US" sz="1600" dirty="0">
                <a:solidFill>
                  <a:schemeClr val="accent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  <p:sp>
          <p:nvSpPr>
            <p:cNvPr id="1008" name="文本框 48">
              <a:extLst>
                <a:ext uri="{FF2B5EF4-FFF2-40B4-BE49-F238E27FC236}">
                  <a16:creationId xmlns:a16="http://schemas.microsoft.com/office/drawing/2014/main" id="{CB53B830-9849-AC45-9F8F-A9BD0B1B4B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93241" y="2301196"/>
              <a:ext cx="655762" cy="471844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>
              <a:spAutoFit/>
            </a:bodyPr>
            <a:lstStyle/>
            <a:p>
              <a:r>
                <a:rPr lang="en-US" altLang="zh-CN" dirty="0">
                  <a:solidFill>
                    <a:schemeClr val="bg1"/>
                  </a:solidFill>
                  <a:latin typeface="Yeseva One" panose="00000500000000000000" charset="0"/>
                  <a:ea typeface="Yeseva One" panose="00000500000000000000" charset="0"/>
                </a:rPr>
                <a:t>02</a:t>
              </a:r>
              <a:endParaRPr lang="zh-CN" altLang="en-US" dirty="0">
                <a:solidFill>
                  <a:schemeClr val="bg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2FFE8F0C-46E7-3A18-890E-4A79A0262320}"/>
              </a:ext>
            </a:extLst>
          </p:cNvPr>
          <p:cNvGrpSpPr/>
          <p:nvPr/>
        </p:nvGrpSpPr>
        <p:grpSpPr>
          <a:xfrm>
            <a:off x="1521476" y="5393625"/>
            <a:ext cx="2754416" cy="486989"/>
            <a:chOff x="1460166" y="1586185"/>
            <a:chExt cx="2754416" cy="486989"/>
          </a:xfrm>
        </p:grpSpPr>
        <p:sp>
          <p:nvSpPr>
            <p:cNvPr id="60" name="圆角矩形 55">
              <a:extLst>
                <a:ext uri="{FF2B5EF4-FFF2-40B4-BE49-F238E27FC236}">
                  <a16:creationId xmlns:a16="http://schemas.microsoft.com/office/drawing/2014/main" id="{1C4AEEFF-1358-BDAC-187F-D25141BE5DDD}"/>
                </a:ext>
              </a:extLst>
            </p:cNvPr>
            <p:cNvSpPr/>
            <p:nvPr/>
          </p:nvSpPr>
          <p:spPr>
            <a:xfrm>
              <a:off x="2082550" y="1615974"/>
              <a:ext cx="2132032" cy="457200"/>
            </a:xfrm>
            <a:prstGeom prst="roundRect">
              <a:avLst/>
            </a:prstGeom>
            <a:no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dirty="0">
                  <a:solidFill>
                    <a:schemeClr val="accent1"/>
                  </a:solidFill>
                  <a:latin typeface="Yeseva One" panose="00000500000000000000" charset="0"/>
                  <a:ea typeface="Yeseva One" panose="00000500000000000000" charset="0"/>
                </a:rPr>
                <a:t> </a:t>
              </a:r>
              <a:endParaRPr lang="zh-CN" altLang="en-US" sz="1600" dirty="0">
                <a:solidFill>
                  <a:schemeClr val="accent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  <p:sp>
          <p:nvSpPr>
            <p:cNvPr id="61" name="圆角矩形 57">
              <a:extLst>
                <a:ext uri="{FF2B5EF4-FFF2-40B4-BE49-F238E27FC236}">
                  <a16:creationId xmlns:a16="http://schemas.microsoft.com/office/drawing/2014/main" id="{46ECA552-D60A-1BE9-13A0-5336B1B58107}"/>
                </a:ext>
              </a:extLst>
            </p:cNvPr>
            <p:cNvSpPr/>
            <p:nvPr/>
          </p:nvSpPr>
          <p:spPr>
            <a:xfrm>
              <a:off x="1460166" y="1586185"/>
              <a:ext cx="528463" cy="473956"/>
            </a:xfrm>
            <a:prstGeom prst="round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dirty="0">
                  <a:solidFill>
                    <a:schemeClr val="accent1"/>
                  </a:solidFill>
                  <a:latin typeface="Yeseva One" panose="00000500000000000000" charset="0"/>
                  <a:ea typeface="Yeseva One" panose="00000500000000000000" charset="0"/>
                </a:rPr>
                <a:t> </a:t>
              </a:r>
              <a:endParaRPr lang="zh-CN" altLang="en-US" sz="1600" dirty="0">
                <a:solidFill>
                  <a:schemeClr val="accent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  <p:sp>
          <p:nvSpPr>
            <p:cNvPr id="960" name="文本框 48">
              <a:extLst>
                <a:ext uri="{FF2B5EF4-FFF2-40B4-BE49-F238E27FC236}">
                  <a16:creationId xmlns:a16="http://schemas.microsoft.com/office/drawing/2014/main" id="{35AA9834-7A5A-8453-3653-2CFACE4F6A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8966" y="1648172"/>
              <a:ext cx="687309" cy="369332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 wrap="square">
              <a:spAutoFit/>
            </a:bodyPr>
            <a:lstStyle/>
            <a:p>
              <a:r>
                <a:rPr lang="en-US" altLang="zh-CN" dirty="0">
                  <a:solidFill>
                    <a:schemeClr val="bg1"/>
                  </a:solidFill>
                  <a:latin typeface="Yeseva One" panose="00000500000000000000" charset="0"/>
                  <a:ea typeface="Yeseva One" panose="00000500000000000000" charset="0"/>
                </a:rPr>
                <a:t>07</a:t>
              </a:r>
              <a:endParaRPr lang="zh-CN" altLang="en-US" dirty="0">
                <a:solidFill>
                  <a:schemeClr val="bg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73E0BA5E-5B0A-1B37-F33F-B566467F41C2}"/>
              </a:ext>
            </a:extLst>
          </p:cNvPr>
          <p:cNvGrpSpPr/>
          <p:nvPr/>
        </p:nvGrpSpPr>
        <p:grpSpPr>
          <a:xfrm>
            <a:off x="1521475" y="6103985"/>
            <a:ext cx="2754418" cy="475488"/>
            <a:chOff x="1473779" y="2239562"/>
            <a:chExt cx="2754418" cy="475488"/>
          </a:xfrm>
        </p:grpSpPr>
        <p:sp>
          <p:nvSpPr>
            <p:cNvPr id="962" name="圆角矩形 55">
              <a:extLst>
                <a:ext uri="{FF2B5EF4-FFF2-40B4-BE49-F238E27FC236}">
                  <a16:creationId xmlns:a16="http://schemas.microsoft.com/office/drawing/2014/main" id="{DBE62096-9EB7-A0CF-3CF1-F0A251D34BAA}"/>
                </a:ext>
              </a:extLst>
            </p:cNvPr>
            <p:cNvSpPr/>
            <p:nvPr/>
          </p:nvSpPr>
          <p:spPr>
            <a:xfrm>
              <a:off x="2096164" y="2250159"/>
              <a:ext cx="2132033" cy="454293"/>
            </a:xfrm>
            <a:prstGeom prst="roundRect">
              <a:avLst/>
            </a:prstGeom>
            <a:no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dirty="0">
                  <a:solidFill>
                    <a:schemeClr val="accent1"/>
                  </a:solidFill>
                  <a:latin typeface="Yeseva One" panose="00000500000000000000" charset="0"/>
                  <a:ea typeface="Yeseva One" panose="00000500000000000000" charset="0"/>
                </a:rPr>
                <a:t> </a:t>
              </a:r>
              <a:endParaRPr lang="zh-CN" altLang="en-US" sz="1600" dirty="0">
                <a:solidFill>
                  <a:schemeClr val="accent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  <p:sp>
          <p:nvSpPr>
            <p:cNvPr id="963" name="圆角矩形 62">
              <a:extLst>
                <a:ext uri="{FF2B5EF4-FFF2-40B4-BE49-F238E27FC236}">
                  <a16:creationId xmlns:a16="http://schemas.microsoft.com/office/drawing/2014/main" id="{455B4183-82E4-F797-1DA4-C93BABE56EA9}"/>
                </a:ext>
              </a:extLst>
            </p:cNvPr>
            <p:cNvSpPr/>
            <p:nvPr/>
          </p:nvSpPr>
          <p:spPr>
            <a:xfrm>
              <a:off x="1473779" y="2239562"/>
              <a:ext cx="530352" cy="475488"/>
            </a:xfrm>
            <a:prstGeom prst="round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dirty="0">
                  <a:solidFill>
                    <a:schemeClr val="accent1"/>
                  </a:solidFill>
                  <a:latin typeface="Yeseva One" panose="00000500000000000000" charset="0"/>
                  <a:ea typeface="Yeseva One" panose="00000500000000000000" charset="0"/>
                </a:rPr>
                <a:t> </a:t>
              </a:r>
              <a:endParaRPr lang="zh-CN" altLang="en-US" sz="1600" dirty="0">
                <a:solidFill>
                  <a:schemeClr val="accent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  <p:sp>
          <p:nvSpPr>
            <p:cNvPr id="964" name="文本框 48">
              <a:extLst>
                <a:ext uri="{FF2B5EF4-FFF2-40B4-BE49-F238E27FC236}">
                  <a16:creationId xmlns:a16="http://schemas.microsoft.com/office/drawing/2014/main" id="{12D66407-4125-A1A0-ADBD-CC3418D8E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93241" y="2301196"/>
              <a:ext cx="655762" cy="369332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>
              <a:spAutoFit/>
            </a:bodyPr>
            <a:lstStyle/>
            <a:p>
              <a:r>
                <a:rPr lang="en-US" altLang="zh-CN" dirty="0">
                  <a:solidFill>
                    <a:schemeClr val="bg1"/>
                  </a:solidFill>
                  <a:latin typeface="Yeseva One" panose="00000500000000000000" charset="0"/>
                  <a:ea typeface="Yeseva One" panose="00000500000000000000" charset="0"/>
                </a:rPr>
                <a:t>08</a:t>
              </a:r>
              <a:endParaRPr lang="zh-CN" altLang="en-US" dirty="0">
                <a:solidFill>
                  <a:schemeClr val="bg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</p:grpSp>
      <p:grpSp>
        <p:nvGrpSpPr>
          <p:cNvPr id="965" name="Group 964">
            <a:extLst>
              <a:ext uri="{FF2B5EF4-FFF2-40B4-BE49-F238E27FC236}">
                <a16:creationId xmlns:a16="http://schemas.microsoft.com/office/drawing/2014/main" id="{B0BF5959-C11D-2758-F170-6E5416BB7C6A}"/>
              </a:ext>
            </a:extLst>
          </p:cNvPr>
          <p:cNvGrpSpPr/>
          <p:nvPr/>
        </p:nvGrpSpPr>
        <p:grpSpPr>
          <a:xfrm>
            <a:off x="1521477" y="4026772"/>
            <a:ext cx="2754416" cy="486989"/>
            <a:chOff x="1460166" y="1586185"/>
            <a:chExt cx="2754416" cy="486989"/>
          </a:xfrm>
        </p:grpSpPr>
        <p:sp>
          <p:nvSpPr>
            <p:cNvPr id="966" name="圆角矩形 55">
              <a:extLst>
                <a:ext uri="{FF2B5EF4-FFF2-40B4-BE49-F238E27FC236}">
                  <a16:creationId xmlns:a16="http://schemas.microsoft.com/office/drawing/2014/main" id="{9C643F26-6A55-D94A-B990-605E75FCB4DB}"/>
                </a:ext>
              </a:extLst>
            </p:cNvPr>
            <p:cNvSpPr/>
            <p:nvPr/>
          </p:nvSpPr>
          <p:spPr>
            <a:xfrm>
              <a:off x="2082550" y="1615974"/>
              <a:ext cx="2132032" cy="457200"/>
            </a:xfrm>
            <a:prstGeom prst="roundRect">
              <a:avLst/>
            </a:prstGeom>
            <a:no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dirty="0">
                  <a:solidFill>
                    <a:schemeClr val="accent1"/>
                  </a:solidFill>
                  <a:latin typeface="Yeseva One" panose="00000500000000000000" charset="0"/>
                  <a:ea typeface="Yeseva One" panose="00000500000000000000" charset="0"/>
                </a:rPr>
                <a:t> </a:t>
              </a:r>
              <a:endParaRPr lang="zh-CN" altLang="en-US" sz="1600" dirty="0">
                <a:solidFill>
                  <a:schemeClr val="accent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  <p:sp>
          <p:nvSpPr>
            <p:cNvPr id="967" name="圆角矩形 57">
              <a:extLst>
                <a:ext uri="{FF2B5EF4-FFF2-40B4-BE49-F238E27FC236}">
                  <a16:creationId xmlns:a16="http://schemas.microsoft.com/office/drawing/2014/main" id="{3A4A51C7-FC8F-5006-C76B-F2DDFDB15CB9}"/>
                </a:ext>
              </a:extLst>
            </p:cNvPr>
            <p:cNvSpPr/>
            <p:nvPr/>
          </p:nvSpPr>
          <p:spPr>
            <a:xfrm>
              <a:off x="1460166" y="1586185"/>
              <a:ext cx="528463" cy="473956"/>
            </a:xfrm>
            <a:prstGeom prst="round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dirty="0">
                  <a:solidFill>
                    <a:schemeClr val="accent1"/>
                  </a:solidFill>
                  <a:latin typeface="Yeseva One" panose="00000500000000000000" charset="0"/>
                  <a:ea typeface="Yeseva One" panose="00000500000000000000" charset="0"/>
                </a:rPr>
                <a:t> </a:t>
              </a:r>
              <a:endParaRPr lang="zh-CN" altLang="en-US" sz="1600" dirty="0">
                <a:solidFill>
                  <a:schemeClr val="accent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  <p:sp>
          <p:nvSpPr>
            <p:cNvPr id="968" name="文本框 48">
              <a:extLst>
                <a:ext uri="{FF2B5EF4-FFF2-40B4-BE49-F238E27FC236}">
                  <a16:creationId xmlns:a16="http://schemas.microsoft.com/office/drawing/2014/main" id="{21BB8E33-CCF8-DC44-E9A5-D17E6E100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8966" y="1648172"/>
              <a:ext cx="687309" cy="369332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 wrap="square">
              <a:spAutoFit/>
            </a:bodyPr>
            <a:lstStyle/>
            <a:p>
              <a:r>
                <a:rPr lang="en-US" altLang="zh-CN" dirty="0">
                  <a:solidFill>
                    <a:schemeClr val="bg1"/>
                  </a:solidFill>
                  <a:latin typeface="Yeseva One" panose="00000500000000000000" charset="0"/>
                  <a:ea typeface="Yeseva One" panose="00000500000000000000" charset="0"/>
                </a:rPr>
                <a:t>05</a:t>
              </a:r>
              <a:endParaRPr lang="zh-CN" altLang="en-US" dirty="0">
                <a:solidFill>
                  <a:schemeClr val="bg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</p:grpSp>
      <p:grpSp>
        <p:nvGrpSpPr>
          <p:cNvPr id="969" name="Group 968">
            <a:extLst>
              <a:ext uri="{FF2B5EF4-FFF2-40B4-BE49-F238E27FC236}">
                <a16:creationId xmlns:a16="http://schemas.microsoft.com/office/drawing/2014/main" id="{1E685956-4CAD-EDD7-2455-F2FC713E2AC8}"/>
              </a:ext>
            </a:extLst>
          </p:cNvPr>
          <p:cNvGrpSpPr/>
          <p:nvPr/>
        </p:nvGrpSpPr>
        <p:grpSpPr>
          <a:xfrm>
            <a:off x="1521476" y="4737132"/>
            <a:ext cx="2754418" cy="475488"/>
            <a:chOff x="1473779" y="2239562"/>
            <a:chExt cx="2754418" cy="475488"/>
          </a:xfrm>
        </p:grpSpPr>
        <p:sp>
          <p:nvSpPr>
            <p:cNvPr id="970" name="圆角矩形 55">
              <a:extLst>
                <a:ext uri="{FF2B5EF4-FFF2-40B4-BE49-F238E27FC236}">
                  <a16:creationId xmlns:a16="http://schemas.microsoft.com/office/drawing/2014/main" id="{B7CFB608-F4AA-3ED8-547F-2D2772ABC576}"/>
                </a:ext>
              </a:extLst>
            </p:cNvPr>
            <p:cNvSpPr/>
            <p:nvPr/>
          </p:nvSpPr>
          <p:spPr>
            <a:xfrm>
              <a:off x="2096164" y="2250159"/>
              <a:ext cx="2132033" cy="454293"/>
            </a:xfrm>
            <a:prstGeom prst="roundRect">
              <a:avLst/>
            </a:prstGeom>
            <a:no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dirty="0">
                  <a:solidFill>
                    <a:schemeClr val="accent1"/>
                  </a:solidFill>
                  <a:latin typeface="Yeseva One" panose="00000500000000000000" charset="0"/>
                  <a:ea typeface="Yeseva One" panose="00000500000000000000" charset="0"/>
                </a:rPr>
                <a:t> </a:t>
              </a:r>
              <a:endParaRPr lang="zh-CN" altLang="en-US" sz="1600" dirty="0">
                <a:solidFill>
                  <a:schemeClr val="accent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  <p:sp>
          <p:nvSpPr>
            <p:cNvPr id="971" name="圆角矩形 62">
              <a:extLst>
                <a:ext uri="{FF2B5EF4-FFF2-40B4-BE49-F238E27FC236}">
                  <a16:creationId xmlns:a16="http://schemas.microsoft.com/office/drawing/2014/main" id="{86032998-57E8-2F08-C407-BAD0BA7AB14A}"/>
                </a:ext>
              </a:extLst>
            </p:cNvPr>
            <p:cNvSpPr/>
            <p:nvPr/>
          </p:nvSpPr>
          <p:spPr>
            <a:xfrm>
              <a:off x="1473779" y="2239562"/>
              <a:ext cx="530352" cy="475488"/>
            </a:xfrm>
            <a:prstGeom prst="round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dirty="0">
                  <a:solidFill>
                    <a:schemeClr val="accent1"/>
                  </a:solidFill>
                  <a:latin typeface="Yeseva One" panose="00000500000000000000" charset="0"/>
                  <a:ea typeface="Yeseva One" panose="00000500000000000000" charset="0"/>
                </a:rPr>
                <a:t> </a:t>
              </a:r>
              <a:endParaRPr lang="zh-CN" altLang="en-US" sz="1600" dirty="0">
                <a:solidFill>
                  <a:schemeClr val="accent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  <p:sp>
          <p:nvSpPr>
            <p:cNvPr id="972" name="文本框 48">
              <a:extLst>
                <a:ext uri="{FF2B5EF4-FFF2-40B4-BE49-F238E27FC236}">
                  <a16:creationId xmlns:a16="http://schemas.microsoft.com/office/drawing/2014/main" id="{C50A6189-EBB9-497A-8C3C-3E6D83DCEE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93241" y="2301196"/>
              <a:ext cx="655762" cy="369332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>
              <a:spAutoFit/>
            </a:bodyPr>
            <a:lstStyle/>
            <a:p>
              <a:r>
                <a:rPr lang="en-US" altLang="zh-CN" dirty="0">
                  <a:solidFill>
                    <a:schemeClr val="bg1"/>
                  </a:solidFill>
                  <a:latin typeface="Yeseva One" panose="00000500000000000000" charset="0"/>
                  <a:ea typeface="Yeseva One" panose="00000500000000000000" charset="0"/>
                </a:rPr>
                <a:t>06</a:t>
              </a:r>
              <a:endParaRPr lang="zh-CN" altLang="en-US" dirty="0">
                <a:solidFill>
                  <a:schemeClr val="bg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</p:grpSp>
      <p:grpSp>
        <p:nvGrpSpPr>
          <p:cNvPr id="973" name="Group 972">
            <a:extLst>
              <a:ext uri="{FF2B5EF4-FFF2-40B4-BE49-F238E27FC236}">
                <a16:creationId xmlns:a16="http://schemas.microsoft.com/office/drawing/2014/main" id="{9BE7DE18-A0E5-0076-7562-2D305E33800D}"/>
              </a:ext>
            </a:extLst>
          </p:cNvPr>
          <p:cNvGrpSpPr/>
          <p:nvPr/>
        </p:nvGrpSpPr>
        <p:grpSpPr>
          <a:xfrm>
            <a:off x="1521478" y="2651893"/>
            <a:ext cx="2754416" cy="486989"/>
            <a:chOff x="1460166" y="1586185"/>
            <a:chExt cx="2754416" cy="486989"/>
          </a:xfrm>
        </p:grpSpPr>
        <p:sp>
          <p:nvSpPr>
            <p:cNvPr id="974" name="圆角矩形 55">
              <a:extLst>
                <a:ext uri="{FF2B5EF4-FFF2-40B4-BE49-F238E27FC236}">
                  <a16:creationId xmlns:a16="http://schemas.microsoft.com/office/drawing/2014/main" id="{03567F3D-BF0A-053F-474C-C01A88AFBC00}"/>
                </a:ext>
              </a:extLst>
            </p:cNvPr>
            <p:cNvSpPr/>
            <p:nvPr/>
          </p:nvSpPr>
          <p:spPr>
            <a:xfrm>
              <a:off x="2082550" y="1615974"/>
              <a:ext cx="2132032" cy="457200"/>
            </a:xfrm>
            <a:prstGeom prst="roundRect">
              <a:avLst/>
            </a:prstGeom>
            <a:no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dirty="0">
                  <a:solidFill>
                    <a:schemeClr val="accent1"/>
                  </a:solidFill>
                  <a:latin typeface="Yeseva One" panose="00000500000000000000" charset="0"/>
                  <a:ea typeface="Yeseva One" panose="00000500000000000000" charset="0"/>
                </a:rPr>
                <a:t> </a:t>
              </a:r>
              <a:endParaRPr lang="zh-CN" altLang="en-US" sz="1600" dirty="0">
                <a:solidFill>
                  <a:schemeClr val="accent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  <p:sp>
          <p:nvSpPr>
            <p:cNvPr id="975" name="圆角矩形 57">
              <a:extLst>
                <a:ext uri="{FF2B5EF4-FFF2-40B4-BE49-F238E27FC236}">
                  <a16:creationId xmlns:a16="http://schemas.microsoft.com/office/drawing/2014/main" id="{B26DF961-C52F-AA84-DDED-A9ED51BCB5C3}"/>
                </a:ext>
              </a:extLst>
            </p:cNvPr>
            <p:cNvSpPr/>
            <p:nvPr/>
          </p:nvSpPr>
          <p:spPr>
            <a:xfrm>
              <a:off x="1460166" y="1586185"/>
              <a:ext cx="528463" cy="473956"/>
            </a:xfrm>
            <a:prstGeom prst="round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dirty="0">
                  <a:solidFill>
                    <a:schemeClr val="accent1"/>
                  </a:solidFill>
                  <a:latin typeface="Yeseva One" panose="00000500000000000000" charset="0"/>
                  <a:ea typeface="Yeseva One" panose="00000500000000000000" charset="0"/>
                </a:rPr>
                <a:t> </a:t>
              </a:r>
              <a:endParaRPr lang="zh-CN" altLang="en-US" sz="1600" dirty="0">
                <a:solidFill>
                  <a:schemeClr val="accent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  <p:sp>
          <p:nvSpPr>
            <p:cNvPr id="976" name="文本框 48">
              <a:extLst>
                <a:ext uri="{FF2B5EF4-FFF2-40B4-BE49-F238E27FC236}">
                  <a16:creationId xmlns:a16="http://schemas.microsoft.com/office/drawing/2014/main" id="{47364AD3-34C0-B6B2-867A-090E1D5EB5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8966" y="1648172"/>
              <a:ext cx="687309" cy="369332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 wrap="square">
              <a:spAutoFit/>
            </a:bodyPr>
            <a:lstStyle/>
            <a:p>
              <a:r>
                <a:rPr lang="en-US" altLang="zh-CN" dirty="0">
                  <a:solidFill>
                    <a:schemeClr val="bg1"/>
                  </a:solidFill>
                  <a:latin typeface="Yeseva One" panose="00000500000000000000" charset="0"/>
                  <a:ea typeface="Yeseva One" panose="00000500000000000000" charset="0"/>
                </a:rPr>
                <a:t>03</a:t>
              </a:r>
              <a:endParaRPr lang="zh-CN" altLang="en-US" dirty="0">
                <a:solidFill>
                  <a:schemeClr val="bg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</p:grpSp>
      <p:grpSp>
        <p:nvGrpSpPr>
          <p:cNvPr id="977" name="Group 976">
            <a:extLst>
              <a:ext uri="{FF2B5EF4-FFF2-40B4-BE49-F238E27FC236}">
                <a16:creationId xmlns:a16="http://schemas.microsoft.com/office/drawing/2014/main" id="{CFEB1FD8-6FE7-AF34-1CA3-E27B432F3418}"/>
              </a:ext>
            </a:extLst>
          </p:cNvPr>
          <p:cNvGrpSpPr/>
          <p:nvPr/>
        </p:nvGrpSpPr>
        <p:grpSpPr>
          <a:xfrm>
            <a:off x="1521477" y="3362253"/>
            <a:ext cx="2754418" cy="475488"/>
            <a:chOff x="1473779" y="2239562"/>
            <a:chExt cx="2754418" cy="475488"/>
          </a:xfrm>
        </p:grpSpPr>
        <p:sp>
          <p:nvSpPr>
            <p:cNvPr id="978" name="圆角矩形 55">
              <a:extLst>
                <a:ext uri="{FF2B5EF4-FFF2-40B4-BE49-F238E27FC236}">
                  <a16:creationId xmlns:a16="http://schemas.microsoft.com/office/drawing/2014/main" id="{4BBDD5CA-DC1B-14F8-F51A-8416C45B7EE9}"/>
                </a:ext>
              </a:extLst>
            </p:cNvPr>
            <p:cNvSpPr/>
            <p:nvPr/>
          </p:nvSpPr>
          <p:spPr>
            <a:xfrm>
              <a:off x="2096164" y="2250159"/>
              <a:ext cx="2132033" cy="454293"/>
            </a:xfrm>
            <a:prstGeom prst="roundRect">
              <a:avLst/>
            </a:prstGeom>
            <a:no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dirty="0">
                  <a:solidFill>
                    <a:schemeClr val="accent1"/>
                  </a:solidFill>
                  <a:latin typeface="Yeseva One" panose="00000500000000000000" charset="0"/>
                  <a:ea typeface="Yeseva One" panose="00000500000000000000" charset="0"/>
                </a:rPr>
                <a:t> </a:t>
              </a:r>
              <a:endParaRPr lang="zh-CN" altLang="en-US" sz="1600" dirty="0">
                <a:solidFill>
                  <a:schemeClr val="accent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  <p:sp>
          <p:nvSpPr>
            <p:cNvPr id="979" name="圆角矩形 62">
              <a:extLst>
                <a:ext uri="{FF2B5EF4-FFF2-40B4-BE49-F238E27FC236}">
                  <a16:creationId xmlns:a16="http://schemas.microsoft.com/office/drawing/2014/main" id="{46F6DF04-B29B-F831-1C75-4856E0AEED13}"/>
                </a:ext>
              </a:extLst>
            </p:cNvPr>
            <p:cNvSpPr/>
            <p:nvPr/>
          </p:nvSpPr>
          <p:spPr>
            <a:xfrm>
              <a:off x="1473779" y="2239562"/>
              <a:ext cx="530352" cy="475488"/>
            </a:xfrm>
            <a:prstGeom prst="round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dirty="0">
                  <a:solidFill>
                    <a:schemeClr val="accent1"/>
                  </a:solidFill>
                  <a:latin typeface="Yeseva One" panose="00000500000000000000" charset="0"/>
                  <a:ea typeface="Yeseva One" panose="00000500000000000000" charset="0"/>
                </a:rPr>
                <a:t> </a:t>
              </a:r>
              <a:endParaRPr lang="zh-CN" altLang="en-US" sz="1600" dirty="0">
                <a:solidFill>
                  <a:schemeClr val="accent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  <p:sp>
          <p:nvSpPr>
            <p:cNvPr id="980" name="文本框 48">
              <a:extLst>
                <a:ext uri="{FF2B5EF4-FFF2-40B4-BE49-F238E27FC236}">
                  <a16:creationId xmlns:a16="http://schemas.microsoft.com/office/drawing/2014/main" id="{385DAFCF-5969-23CE-88B1-6A5C530207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93241" y="2301196"/>
              <a:ext cx="655762" cy="369332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>
              <a:spAutoFit/>
            </a:bodyPr>
            <a:lstStyle/>
            <a:p>
              <a:r>
                <a:rPr lang="en-US" altLang="zh-CN" dirty="0">
                  <a:solidFill>
                    <a:schemeClr val="bg1"/>
                  </a:solidFill>
                  <a:latin typeface="Yeseva One" panose="00000500000000000000" charset="0"/>
                  <a:ea typeface="Yeseva One" panose="00000500000000000000" charset="0"/>
                </a:rPr>
                <a:t>04</a:t>
              </a:r>
              <a:endParaRPr lang="zh-CN" altLang="en-US" dirty="0">
                <a:solidFill>
                  <a:schemeClr val="bg1"/>
                </a:solidFill>
                <a:latin typeface="Yeseva One" panose="00000500000000000000" charset="0"/>
                <a:ea typeface="Yeseva One" panose="00000500000000000000" charset="0"/>
              </a:endParaRPr>
            </a:p>
          </p:txBody>
        </p:sp>
      </p:grpSp>
      <p:sp>
        <p:nvSpPr>
          <p:cNvPr id="981" name="TextBox 980">
            <a:extLst>
              <a:ext uri="{FF2B5EF4-FFF2-40B4-BE49-F238E27FC236}">
                <a16:creationId xmlns:a16="http://schemas.microsoft.com/office/drawing/2014/main" id="{FB8986EC-350F-BADF-6596-26E29F4A9BEE}"/>
              </a:ext>
            </a:extLst>
          </p:cNvPr>
          <p:cNvSpPr txBox="1"/>
          <p:nvPr/>
        </p:nvSpPr>
        <p:spPr>
          <a:xfrm>
            <a:off x="2143860" y="1375641"/>
            <a:ext cx="223934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/>
              <a:t>Introduction</a:t>
            </a:r>
            <a:endParaRPr lang="en-US" b="1" dirty="0"/>
          </a:p>
        </p:txBody>
      </p:sp>
      <p:sp>
        <p:nvSpPr>
          <p:cNvPr id="990" name="TextBox 989">
            <a:extLst>
              <a:ext uri="{FF2B5EF4-FFF2-40B4-BE49-F238E27FC236}">
                <a16:creationId xmlns:a16="http://schemas.microsoft.com/office/drawing/2014/main" id="{BA81AEBD-234C-4557-7C8C-D4C0705DA571}"/>
              </a:ext>
            </a:extLst>
          </p:cNvPr>
          <p:cNvSpPr txBox="1"/>
          <p:nvPr/>
        </p:nvSpPr>
        <p:spPr>
          <a:xfrm>
            <a:off x="2143859" y="2068535"/>
            <a:ext cx="223934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/>
              <a:t>Problem Statement</a:t>
            </a:r>
            <a:endParaRPr lang="en-US" b="1" dirty="0"/>
          </a:p>
        </p:txBody>
      </p:sp>
      <p:sp>
        <p:nvSpPr>
          <p:cNvPr id="991" name="TextBox 990">
            <a:extLst>
              <a:ext uri="{FF2B5EF4-FFF2-40B4-BE49-F238E27FC236}">
                <a16:creationId xmlns:a16="http://schemas.microsoft.com/office/drawing/2014/main" id="{64BE1058-C322-9E47-E9DA-139D0E923177}"/>
              </a:ext>
            </a:extLst>
          </p:cNvPr>
          <p:cNvSpPr txBox="1"/>
          <p:nvPr/>
        </p:nvSpPr>
        <p:spPr>
          <a:xfrm>
            <a:off x="2143859" y="2750310"/>
            <a:ext cx="223934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/>
              <a:t>Objective</a:t>
            </a:r>
            <a:endParaRPr lang="en-US" b="1" dirty="0"/>
          </a:p>
        </p:txBody>
      </p:sp>
      <p:sp>
        <p:nvSpPr>
          <p:cNvPr id="992" name="TextBox 991">
            <a:extLst>
              <a:ext uri="{FF2B5EF4-FFF2-40B4-BE49-F238E27FC236}">
                <a16:creationId xmlns:a16="http://schemas.microsoft.com/office/drawing/2014/main" id="{BBC4830B-0078-CABE-9402-451EEE48EBB7}"/>
              </a:ext>
            </a:extLst>
          </p:cNvPr>
          <p:cNvSpPr txBox="1"/>
          <p:nvPr/>
        </p:nvSpPr>
        <p:spPr>
          <a:xfrm>
            <a:off x="2143859" y="3436089"/>
            <a:ext cx="223934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/>
              <a:t>Related Work</a:t>
            </a:r>
            <a:endParaRPr lang="en-US" b="1" dirty="0"/>
          </a:p>
        </p:txBody>
      </p:sp>
      <p:sp>
        <p:nvSpPr>
          <p:cNvPr id="993" name="TextBox 992">
            <a:extLst>
              <a:ext uri="{FF2B5EF4-FFF2-40B4-BE49-F238E27FC236}">
                <a16:creationId xmlns:a16="http://schemas.microsoft.com/office/drawing/2014/main" id="{1AFE4E9A-AD01-291F-C737-6C311D7EC02A}"/>
              </a:ext>
            </a:extLst>
          </p:cNvPr>
          <p:cNvSpPr txBox="1"/>
          <p:nvPr/>
        </p:nvSpPr>
        <p:spPr>
          <a:xfrm>
            <a:off x="2143859" y="4110485"/>
            <a:ext cx="223934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/>
              <a:t>Proposed Work</a:t>
            </a:r>
            <a:endParaRPr lang="en-US" b="1" dirty="0"/>
          </a:p>
        </p:txBody>
      </p:sp>
      <p:sp>
        <p:nvSpPr>
          <p:cNvPr id="994" name="TextBox 993">
            <a:extLst>
              <a:ext uri="{FF2B5EF4-FFF2-40B4-BE49-F238E27FC236}">
                <a16:creationId xmlns:a16="http://schemas.microsoft.com/office/drawing/2014/main" id="{D8DC6B37-8356-6A6F-7ECD-EB4E19BFAAAD}"/>
              </a:ext>
            </a:extLst>
          </p:cNvPr>
          <p:cNvSpPr txBox="1"/>
          <p:nvPr/>
        </p:nvSpPr>
        <p:spPr>
          <a:xfrm>
            <a:off x="2143858" y="4811175"/>
            <a:ext cx="223934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/>
              <a:t>App Prototype</a:t>
            </a:r>
            <a:endParaRPr lang="en-US" b="1" dirty="0"/>
          </a:p>
        </p:txBody>
      </p:sp>
      <p:sp>
        <p:nvSpPr>
          <p:cNvPr id="995" name="TextBox 994">
            <a:extLst>
              <a:ext uri="{FF2B5EF4-FFF2-40B4-BE49-F238E27FC236}">
                <a16:creationId xmlns:a16="http://schemas.microsoft.com/office/drawing/2014/main" id="{2C224DDA-2B56-C8B7-AD14-4BDD8DE2B4A8}"/>
              </a:ext>
            </a:extLst>
          </p:cNvPr>
          <p:cNvSpPr txBox="1"/>
          <p:nvPr/>
        </p:nvSpPr>
        <p:spPr>
          <a:xfrm>
            <a:off x="2143858" y="5462878"/>
            <a:ext cx="223934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/>
              <a:t>Project Plan</a:t>
            </a:r>
            <a:endParaRPr lang="en-US" b="1" dirty="0"/>
          </a:p>
        </p:txBody>
      </p:sp>
      <p:sp>
        <p:nvSpPr>
          <p:cNvPr id="996" name="TextBox 995">
            <a:extLst>
              <a:ext uri="{FF2B5EF4-FFF2-40B4-BE49-F238E27FC236}">
                <a16:creationId xmlns:a16="http://schemas.microsoft.com/office/drawing/2014/main" id="{765FC541-4CC0-9879-4809-7E625F2B0932}"/>
              </a:ext>
            </a:extLst>
          </p:cNvPr>
          <p:cNvSpPr txBox="1"/>
          <p:nvPr/>
        </p:nvSpPr>
        <p:spPr>
          <a:xfrm>
            <a:off x="2143858" y="6172451"/>
            <a:ext cx="223934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/>
              <a:t>Conclusion</a:t>
            </a: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6209913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1" grpId="0"/>
      <p:bldP spid="990" grpId="0"/>
      <p:bldP spid="991" grpId="0"/>
      <p:bldP spid="992" grpId="0"/>
      <p:bldP spid="993" grpId="0"/>
      <p:bldP spid="994" grpId="0"/>
      <p:bldP spid="995" grpId="0"/>
      <p:bldP spid="996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A079E-4015-B71C-9D80-85BBEC4E4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62737" y="2766218"/>
            <a:ext cx="4676775" cy="1325563"/>
          </a:xfrm>
        </p:spPr>
        <p:txBody>
          <a:bodyPr/>
          <a:lstStyle/>
          <a:p>
            <a:r>
              <a:rPr lang="en-US" dirty="0"/>
              <a:t>1. introduction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2F59CB0-DFD0-314A-D895-19529D591A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t>3</a:t>
            </a:fld>
            <a:endParaRPr lang="en-US" sz="1600" b="1" dirty="0"/>
          </a:p>
        </p:txBody>
      </p:sp>
    </p:spTree>
    <p:extLst>
      <p:ext uri="{BB962C8B-B14F-4D97-AF65-F5344CB8AC3E}">
        <p14:creationId xmlns:p14="http://schemas.microsoft.com/office/powerpoint/2010/main" val="352000779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708C79-A4AC-4B5D-92DF-600737E4D1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l"/>
            <a:r>
              <a:rPr lang="en-US" dirty="0"/>
              <a:t>introduction</a:t>
            </a:r>
          </a:p>
        </p:txBody>
      </p:sp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pPr/>
              <a:t>4</a:t>
            </a:fld>
            <a:endParaRPr lang="en-US" sz="1050" b="1" dirty="0"/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34DF5BCA-4573-BCFA-2B4F-48C344572769}"/>
              </a:ext>
            </a:extLst>
          </p:cNvPr>
          <p:cNvSpPr txBox="1">
            <a:spLocks/>
          </p:cNvSpPr>
          <p:nvPr/>
        </p:nvSpPr>
        <p:spPr>
          <a:xfrm>
            <a:off x="838200" y="1797220"/>
            <a:ext cx="10515600" cy="38401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 algn="just">
              <a:buFont typeface="Wingdings" panose="05000000000000000000" pitchFamily="2" charset="2"/>
              <a:buChar char="§"/>
            </a:pPr>
            <a:r>
              <a:rPr lang="en-US" sz="1600" dirty="0"/>
              <a:t>Artificial Intelligence (AI) is a transformative technology with a largely </a:t>
            </a:r>
            <a:r>
              <a:rPr lang="en-US" sz="1600" b="1" dirty="0"/>
              <a:t>positive impact </a:t>
            </a:r>
            <a:r>
              <a:rPr lang="en-US" sz="1600" dirty="0"/>
              <a:t>on society.</a:t>
            </a:r>
          </a:p>
          <a:p>
            <a:pPr algn="just"/>
            <a:endParaRPr lang="en-US" sz="1600" dirty="0"/>
          </a:p>
          <a:p>
            <a:pPr marL="285750" indent="-285750" algn="just">
              <a:buFont typeface="Wingdings" panose="05000000000000000000" pitchFamily="2" charset="2"/>
              <a:buChar char="§"/>
            </a:pPr>
            <a:r>
              <a:rPr lang="en-US" sz="1600" b="1" dirty="0"/>
              <a:t>AI and facial recognition technology </a:t>
            </a:r>
            <a:r>
              <a:rPr lang="en-US" sz="1600" dirty="0"/>
              <a:t>have advanced significantly in recent years and can be applied to a range of industries, including addressing the problem of missing children.</a:t>
            </a:r>
          </a:p>
          <a:p>
            <a:pPr algn="just"/>
            <a:endParaRPr lang="en-US" sz="1600" dirty="0"/>
          </a:p>
          <a:p>
            <a:pPr marL="285750" indent="-285750" algn="just">
              <a:buFont typeface="Wingdings" panose="05000000000000000000" pitchFamily="2" charset="2"/>
              <a:buChar char="§"/>
            </a:pPr>
            <a:r>
              <a:rPr lang="en-US" sz="1600" dirty="0"/>
              <a:t>The development and implementation of AI and facial recognition technologies have the potential to </a:t>
            </a:r>
            <a:r>
              <a:rPr lang="en-US" sz="1600" b="1" dirty="0"/>
              <a:t>positively impact countless families </a:t>
            </a:r>
            <a:r>
              <a:rPr lang="en-US" sz="1600" dirty="0"/>
              <a:t>and communities affected by the issue of missing children.</a:t>
            </a:r>
          </a:p>
          <a:p>
            <a:pPr marL="285750" indent="-285750" algn="just">
              <a:buFont typeface="Wingdings" panose="05000000000000000000" pitchFamily="2" charset="2"/>
              <a:buChar char="§"/>
            </a:pPr>
            <a:endParaRPr lang="en-US" sz="1600" dirty="0"/>
          </a:p>
          <a:p>
            <a:pPr marL="285750" indent="-285750" algn="just">
              <a:buFont typeface="Wingdings" panose="05000000000000000000" pitchFamily="2" charset="2"/>
              <a:buChar char="§"/>
            </a:pPr>
            <a:r>
              <a:rPr lang="en-US" sz="1600" dirty="0"/>
              <a:t>The use of AI and face recognition technology can significantly </a:t>
            </a:r>
            <a:r>
              <a:rPr lang="en-US" sz="1600" b="1" dirty="0"/>
              <a:t>increase the chances of finding missing children</a:t>
            </a:r>
            <a:r>
              <a:rPr lang="en-US" sz="1600" dirty="0"/>
              <a:t>, ultimately helping to bring them home safely.</a:t>
            </a:r>
          </a:p>
          <a:p>
            <a:pPr algn="just"/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73164184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A079E-4015-B71C-9D80-85BBEC4E4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62737" y="2766218"/>
            <a:ext cx="4676775" cy="1325563"/>
          </a:xfrm>
        </p:spPr>
        <p:txBody>
          <a:bodyPr/>
          <a:lstStyle/>
          <a:p>
            <a:r>
              <a:rPr lang="en-US" dirty="0"/>
              <a:t>2. Problem statement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2F59CB0-DFD0-314A-D895-19529D591A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pPr/>
              <a:t>5</a:t>
            </a:fld>
            <a:endParaRPr lang="en-US" sz="1600" b="1" dirty="0"/>
          </a:p>
        </p:txBody>
      </p:sp>
    </p:spTree>
    <p:extLst>
      <p:ext uri="{BB962C8B-B14F-4D97-AF65-F5344CB8AC3E}">
        <p14:creationId xmlns:p14="http://schemas.microsoft.com/office/powerpoint/2010/main" val="305180960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708C79-A4AC-4B5D-92DF-600737E4D1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l"/>
            <a:r>
              <a:rPr lang="en-US" dirty="0"/>
              <a:t>Problem statement</a:t>
            </a:r>
          </a:p>
        </p:txBody>
      </p:sp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pPr/>
              <a:t>6</a:t>
            </a:fld>
            <a:endParaRPr lang="en-US" sz="1050" b="1" dirty="0"/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3DAE9625-4F95-66E6-CC72-A9926A851D8D}"/>
              </a:ext>
            </a:extLst>
          </p:cNvPr>
          <p:cNvSpPr txBox="1">
            <a:spLocks/>
          </p:cNvSpPr>
          <p:nvPr/>
        </p:nvSpPr>
        <p:spPr>
          <a:xfrm>
            <a:off x="838198" y="1730129"/>
            <a:ext cx="10515599" cy="3866733"/>
          </a:xfrm>
          <a:prstGeom prst="rect">
            <a:avLst/>
          </a:prstGeom>
        </p:spPr>
        <p:txBody>
          <a:bodyPr vert="horz" lIns="91440" tIns="45720" rIns="91440" bIns="45720" rtlCol="0" anchor="ctr">
            <a:normAutofit lnSpcReduction="10000"/>
          </a:bodyPr>
          <a:lstStyle>
            <a:lvl1pPr marL="0" indent="0" algn="ctr" defTabSz="914400" rtl="0" eaLnBrk="1" latinLnBrk="0" hangingPunct="1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§"/>
            </a:pPr>
            <a:r>
              <a:rPr lang="en-US" sz="1600" dirty="0"/>
              <a:t>According to a </a:t>
            </a:r>
            <a:r>
              <a:rPr lang="en-US" sz="1600" b="1" dirty="0"/>
              <a:t>2020</a:t>
            </a:r>
            <a:r>
              <a:rPr lang="en-US" sz="1600" dirty="0"/>
              <a:t> report by the International Centre for Missing &amp; Exploited Children (ICMEC), </a:t>
            </a:r>
            <a:r>
              <a:rPr lang="en-US" sz="1600" b="1" dirty="0"/>
              <a:t>Egypt</a:t>
            </a:r>
            <a:r>
              <a:rPr lang="en-US" sz="1600" dirty="0"/>
              <a:t> is one of the</a:t>
            </a:r>
            <a:r>
              <a:rPr lang="en-US" sz="1600" b="1" dirty="0"/>
              <a:t> top five countries</a:t>
            </a:r>
            <a:r>
              <a:rPr lang="en-US" sz="1600" dirty="0"/>
              <a:t> in the </a:t>
            </a:r>
            <a:r>
              <a:rPr lang="en-US" sz="1600" b="1" dirty="0"/>
              <a:t>Middle</a:t>
            </a:r>
            <a:r>
              <a:rPr lang="en-US" sz="1600" dirty="0"/>
              <a:t> </a:t>
            </a:r>
            <a:r>
              <a:rPr lang="en-US" sz="1600" b="1" dirty="0"/>
              <a:t>East</a:t>
            </a:r>
            <a:r>
              <a:rPr lang="en-US" sz="1600" dirty="0"/>
              <a:t> and </a:t>
            </a:r>
            <a:r>
              <a:rPr lang="en-US" sz="1600" b="1" dirty="0"/>
              <a:t>North</a:t>
            </a:r>
            <a:r>
              <a:rPr lang="en-US" sz="1600" dirty="0"/>
              <a:t> </a:t>
            </a:r>
            <a:r>
              <a:rPr lang="en-US" sz="1600" b="1" dirty="0"/>
              <a:t>Africa</a:t>
            </a:r>
            <a:r>
              <a:rPr lang="en-US" sz="1600" dirty="0"/>
              <a:t> (MENA) region with the </a:t>
            </a:r>
            <a:r>
              <a:rPr lang="en-US" sz="1600" b="1" dirty="0"/>
              <a:t>highest</a:t>
            </a:r>
            <a:r>
              <a:rPr lang="en-US" sz="1600" dirty="0"/>
              <a:t> </a:t>
            </a:r>
            <a:r>
              <a:rPr lang="en-US" sz="1600" b="1" dirty="0"/>
              <a:t>number</a:t>
            </a:r>
            <a:r>
              <a:rPr lang="en-US" sz="1600" dirty="0"/>
              <a:t> of missing children's cases.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§"/>
            </a:pPr>
            <a:r>
              <a:rPr lang="en-US" sz="1600" dirty="0"/>
              <a:t>There are </a:t>
            </a:r>
            <a:r>
              <a:rPr lang="en-US" sz="1600" b="1" dirty="0"/>
              <a:t>efforts</a:t>
            </a:r>
            <a:r>
              <a:rPr lang="en-US" sz="1600" dirty="0"/>
              <a:t> to address this issue in Egypt including public awareness campaigns, specialized police units, and technology-based solutions like the Child Protection Program but they </a:t>
            </a:r>
            <a:r>
              <a:rPr lang="en-US" sz="1600" b="1" dirty="0"/>
              <a:t>are not always enough</a:t>
            </a:r>
            <a:r>
              <a:rPr lang="en-US" sz="1600" dirty="0"/>
              <a:t>.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§"/>
            </a:pPr>
            <a:r>
              <a:rPr lang="en-US" sz="1600" dirty="0"/>
              <a:t>Many cases are still </a:t>
            </a:r>
            <a:r>
              <a:rPr lang="en-US" sz="1600" b="1" dirty="0"/>
              <a:t>unsolved</a:t>
            </a:r>
            <a:r>
              <a:rPr lang="en-US" sz="1600" dirty="0"/>
              <a:t>, highlighting the need for </a:t>
            </a:r>
            <a:r>
              <a:rPr lang="en-US" sz="1600" b="1" dirty="0"/>
              <a:t>effective and efficient solutions</a:t>
            </a:r>
            <a:r>
              <a:rPr lang="en-US" sz="1600" dirty="0"/>
              <a:t> to help address the </a:t>
            </a:r>
            <a:r>
              <a:rPr lang="en-US" sz="1600" b="1" dirty="0"/>
              <a:t>issue</a:t>
            </a:r>
            <a:r>
              <a:rPr lang="en-US" sz="1600" dirty="0"/>
              <a:t> of missing children in Egypt.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§"/>
            </a:pPr>
            <a:r>
              <a:rPr lang="en-US" sz="1600" dirty="0"/>
              <a:t>Finding missing children can be </a:t>
            </a:r>
            <a:r>
              <a:rPr lang="en-US" sz="1600" b="1" dirty="0"/>
              <a:t>difficult and time-consuming</a:t>
            </a:r>
            <a:r>
              <a:rPr lang="en-US" sz="1600" dirty="0"/>
              <a:t>, especially when trying traditional search methods like </a:t>
            </a:r>
            <a:r>
              <a:rPr lang="en-US" sz="1600" b="1" dirty="0"/>
              <a:t>printing, distributing flyers and posting on social media </a:t>
            </a:r>
            <a:r>
              <a:rPr lang="en-US" sz="1600" dirty="0"/>
              <a:t>and the search area is vast or the child's whereabouts are unknown.</a:t>
            </a:r>
          </a:p>
        </p:txBody>
      </p:sp>
    </p:spTree>
    <p:extLst>
      <p:ext uri="{BB962C8B-B14F-4D97-AF65-F5344CB8AC3E}">
        <p14:creationId xmlns:p14="http://schemas.microsoft.com/office/powerpoint/2010/main" val="308975121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A079E-4015-B71C-9D80-85BBEC4E4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62737" y="2766218"/>
            <a:ext cx="4676775" cy="1325563"/>
          </a:xfrm>
        </p:spPr>
        <p:txBody>
          <a:bodyPr/>
          <a:lstStyle/>
          <a:p>
            <a:r>
              <a:rPr lang="en-US" dirty="0"/>
              <a:t>3. Objective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2F59CB0-DFD0-314A-D895-19529D591A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t>7</a:t>
            </a:fld>
            <a:endParaRPr lang="en-US" sz="1600" b="1" dirty="0"/>
          </a:p>
        </p:txBody>
      </p:sp>
    </p:spTree>
    <p:extLst>
      <p:ext uri="{BB962C8B-B14F-4D97-AF65-F5344CB8AC3E}">
        <p14:creationId xmlns:p14="http://schemas.microsoft.com/office/powerpoint/2010/main" val="247497309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708C79-A4AC-4B5D-92DF-600737E4D1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Objective</a:t>
            </a:r>
          </a:p>
        </p:txBody>
      </p:sp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pPr/>
              <a:t>8</a:t>
            </a:fld>
            <a:endParaRPr lang="en-US" sz="1050" b="1" dirty="0"/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E3D7ADD0-57CB-DDAB-F3CE-EEB15A2F4B01}"/>
              </a:ext>
            </a:extLst>
          </p:cNvPr>
          <p:cNvSpPr txBox="1">
            <a:spLocks/>
          </p:cNvSpPr>
          <p:nvPr/>
        </p:nvSpPr>
        <p:spPr>
          <a:xfrm>
            <a:off x="839788" y="1690688"/>
            <a:ext cx="10512424" cy="3875610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Font typeface="Wingdings" panose="05000000000000000000" pitchFamily="2" charset="2"/>
              <a:buChar char=""/>
              <a:tabLst>
                <a:tab pos="457200" algn="l"/>
              </a:tabLst>
            </a:pPr>
            <a:r>
              <a:rPr lang="en-US" sz="1600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The objective of this project is to </a:t>
            </a:r>
            <a:r>
              <a:rPr lang="en-US" sz="1600" b="1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help</a:t>
            </a:r>
            <a:r>
              <a:rPr lang="en-US" sz="1600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en-US" sz="1600" b="1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parents</a:t>
            </a:r>
            <a:r>
              <a:rPr lang="en-US" sz="1600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 find their missing kids </a:t>
            </a:r>
            <a:r>
              <a:rPr lang="en-US" sz="1600" b="1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quickly</a:t>
            </a:r>
            <a:r>
              <a:rPr lang="en-US" sz="1600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. </a:t>
            </a:r>
          </a:p>
          <a:p>
            <a:pPr marL="342900" marR="0" lvl="0" indent="-34290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Font typeface="Wingdings" panose="05000000000000000000" pitchFamily="2" charset="2"/>
              <a:buChar char=""/>
              <a:tabLst>
                <a:tab pos="457200" algn="l"/>
              </a:tabLst>
            </a:pPr>
            <a:r>
              <a:rPr lang="en-US" sz="1600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Why? </a:t>
            </a:r>
          </a:p>
          <a:p>
            <a:pPr lvl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600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We want to make it </a:t>
            </a:r>
            <a:r>
              <a:rPr lang="en-US" sz="1600" b="1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fast</a:t>
            </a:r>
            <a:r>
              <a:rPr lang="en-US" sz="1600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 for people</a:t>
            </a:r>
            <a:r>
              <a:rPr lang="en-US" sz="1600" b="1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en-US" sz="1600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who</a:t>
            </a:r>
            <a:r>
              <a:rPr lang="en-US" sz="1600" b="1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 find a lost child</a:t>
            </a:r>
            <a:r>
              <a:rPr lang="en-US" sz="1600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 to </a:t>
            </a:r>
            <a:r>
              <a:rPr lang="en-US" sz="1600" b="1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reunite</a:t>
            </a:r>
            <a:r>
              <a:rPr lang="en-US" sz="1600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 this child with their parents and </a:t>
            </a:r>
            <a:r>
              <a:rPr lang="en-US" sz="1600" b="1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facilitate the connection </a:t>
            </a:r>
            <a:r>
              <a:rPr lang="en-US" sz="1600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between the one who found the missing child and their families.</a:t>
            </a:r>
          </a:p>
          <a:p>
            <a:pPr marL="342900" marR="0" lvl="0" indent="-34290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Font typeface="Wingdings" panose="05000000000000000000" pitchFamily="2" charset="2"/>
              <a:buChar char=""/>
              <a:tabLst>
                <a:tab pos="457200" algn="l"/>
              </a:tabLst>
            </a:pPr>
            <a:r>
              <a:rPr lang="en-US" sz="1600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How? </a:t>
            </a:r>
          </a:p>
          <a:p>
            <a:pPr marL="742950" marR="0" lvl="1" indent="-28575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Font typeface="+mj-lt"/>
              <a:buAutoNum type="romanUcPeriod"/>
              <a:tabLst>
                <a:tab pos="914400" algn="l"/>
              </a:tabLst>
            </a:pPr>
            <a:r>
              <a:rPr lang="en-US" sz="1600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By creating </a:t>
            </a:r>
            <a:r>
              <a:rPr lang="en-US" sz="1600" b="1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missing children database </a:t>
            </a:r>
            <a:r>
              <a:rPr lang="en-US" sz="1600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that contains the information about them and their photos.</a:t>
            </a:r>
          </a:p>
          <a:p>
            <a:pPr marL="742950" marR="0" lvl="1" indent="-28575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Font typeface="+mj-lt"/>
              <a:buAutoNum type="romanUcPeriod"/>
              <a:tabLst>
                <a:tab pos="914400" algn="l"/>
              </a:tabLst>
            </a:pPr>
            <a:r>
              <a:rPr lang="en-US" sz="1600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And by using Face recognition technology </a:t>
            </a:r>
            <a:r>
              <a:rPr lang="en-US" sz="1600" b="1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compares the database </a:t>
            </a:r>
            <a:r>
              <a:rPr lang="en-US" sz="1600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with photos of missing kids submitted to it and can identify missing kids instantly. </a:t>
            </a:r>
          </a:p>
          <a:p>
            <a:pPr marL="342900" marR="0" lvl="0" indent="-34290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Font typeface="Wingdings" panose="05000000000000000000" pitchFamily="2" charset="2"/>
              <a:buChar char=""/>
              <a:tabLst>
                <a:tab pos="457200" algn="l"/>
              </a:tabLst>
            </a:pPr>
            <a:r>
              <a:rPr lang="en-US" sz="1600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The goal of the project is to ensure that </a:t>
            </a:r>
            <a:r>
              <a:rPr lang="en-US" sz="1600" b="1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most of the missing kids return to their families.</a:t>
            </a:r>
            <a:endParaRPr lang="en-US" sz="1600" dirty="0">
              <a:effectLst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0" marR="0" indent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None/>
            </a:pPr>
            <a:endParaRPr lang="en-US" sz="1600" dirty="0">
              <a:effectLst/>
              <a:ea typeface="Calibri" panose="020F050202020403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739676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A079E-4015-B71C-9D80-85BBEC4E4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62737" y="2766218"/>
            <a:ext cx="4676775" cy="1325563"/>
          </a:xfrm>
        </p:spPr>
        <p:txBody>
          <a:bodyPr/>
          <a:lstStyle/>
          <a:p>
            <a:r>
              <a:rPr lang="en-US" dirty="0"/>
              <a:t>4. Related work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2F59CB0-DFD0-314A-D895-19529D591A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t>9</a:t>
            </a:fld>
            <a:endParaRPr lang="en-US" sz="1600" b="1" dirty="0"/>
          </a:p>
        </p:txBody>
      </p:sp>
    </p:spTree>
    <p:extLst>
      <p:ext uri="{BB962C8B-B14F-4D97-AF65-F5344CB8AC3E}">
        <p14:creationId xmlns:p14="http://schemas.microsoft.com/office/powerpoint/2010/main" val="327519804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9" name="Title 1">
            <a:extLst>
              <a:ext uri="{FF2B5EF4-FFF2-40B4-BE49-F238E27FC236}">
                <a16:creationId xmlns:a16="http://schemas.microsoft.com/office/drawing/2014/main" id="{B93E3E4B-4EA5-3443-9C98-E2938DEB8D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pPr algn="l"/>
            <a:r>
              <a:rPr lang="en-US" dirty="0"/>
              <a:t>Related work</a:t>
            </a:r>
          </a:p>
        </p:txBody>
      </p:sp>
      <p:sp>
        <p:nvSpPr>
          <p:cNvPr id="1070" name="Slide Number Placeholder 3">
            <a:extLst>
              <a:ext uri="{FF2B5EF4-FFF2-40B4-BE49-F238E27FC236}">
                <a16:creationId xmlns:a16="http://schemas.microsoft.com/office/drawing/2014/main" id="{7002CF2B-2334-2E08-542B-B083A84DE738}"/>
              </a:ext>
            </a:extLst>
          </p:cNvPr>
          <p:cNvSpPr txBox="1">
            <a:spLocks/>
          </p:cNvSpPr>
          <p:nvPr/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19B51A1E-902D-48AF-9020-955120F399B6}" type="slidenum">
              <a:rPr lang="en-ZA" sz="1600" b="1" smtClean="0"/>
              <a:pPr algn="r"/>
              <a:t>10</a:t>
            </a:fld>
            <a:endParaRPr lang="en-ZA" sz="1600" b="1" dirty="0"/>
          </a:p>
        </p:txBody>
      </p:sp>
      <p:graphicFrame>
        <p:nvGraphicFramePr>
          <p:cNvPr id="21" name="Table 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6956814"/>
              </p:ext>
            </p:extLst>
          </p:nvPr>
        </p:nvGraphicFramePr>
        <p:xfrm>
          <a:off x="840582" y="1892911"/>
          <a:ext cx="10514011" cy="3303343"/>
        </p:xfrm>
        <a:graphic>
          <a:graphicData uri="http://schemas.openxmlformats.org/drawingml/2006/table">
            <a:tbl>
              <a:tblPr firstRow="1" firstCol="1" bandRow="1"/>
              <a:tblGrid>
                <a:gridCol w="1597143">
                  <a:extLst>
                    <a:ext uri="{9D8B030D-6E8A-4147-A177-3AD203B41FA5}">
                      <a16:colId xmlns:a16="http://schemas.microsoft.com/office/drawing/2014/main" val="3696676113"/>
                    </a:ext>
                  </a:extLst>
                </a:gridCol>
                <a:gridCol w="1878994">
                  <a:extLst>
                    <a:ext uri="{9D8B030D-6E8A-4147-A177-3AD203B41FA5}">
                      <a16:colId xmlns:a16="http://schemas.microsoft.com/office/drawing/2014/main" val="2494001718"/>
                    </a:ext>
                  </a:extLst>
                </a:gridCol>
                <a:gridCol w="1409245">
                  <a:extLst>
                    <a:ext uri="{9D8B030D-6E8A-4147-A177-3AD203B41FA5}">
                      <a16:colId xmlns:a16="http://schemas.microsoft.com/office/drawing/2014/main" val="3068064295"/>
                    </a:ext>
                  </a:extLst>
                </a:gridCol>
                <a:gridCol w="1315295">
                  <a:extLst>
                    <a:ext uri="{9D8B030D-6E8A-4147-A177-3AD203B41FA5}">
                      <a16:colId xmlns:a16="http://schemas.microsoft.com/office/drawing/2014/main" val="3353925549"/>
                    </a:ext>
                  </a:extLst>
                </a:gridCol>
                <a:gridCol w="1503194">
                  <a:extLst>
                    <a:ext uri="{9D8B030D-6E8A-4147-A177-3AD203B41FA5}">
                      <a16:colId xmlns:a16="http://schemas.microsoft.com/office/drawing/2014/main" val="3180197144"/>
                    </a:ext>
                  </a:extLst>
                </a:gridCol>
                <a:gridCol w="1127085">
                  <a:extLst>
                    <a:ext uri="{9D8B030D-6E8A-4147-A177-3AD203B41FA5}">
                      <a16:colId xmlns:a16="http://schemas.microsoft.com/office/drawing/2014/main" val="1990457797"/>
                    </a:ext>
                  </a:extLst>
                </a:gridCol>
                <a:gridCol w="1683055">
                  <a:extLst>
                    <a:ext uri="{9D8B030D-6E8A-4147-A177-3AD203B41FA5}">
                      <a16:colId xmlns:a16="http://schemas.microsoft.com/office/drawing/2014/main" val="346615816"/>
                    </a:ext>
                  </a:extLst>
                </a:gridCol>
              </a:tblGrid>
              <a:tr h="612897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200" b="1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Facial Recognition</a:t>
                      </a:r>
                      <a:endParaRPr lang="en-US" sz="1600" b="1" dirty="0">
                        <a:effectLst/>
                        <a:latin typeface="+mn-lt"/>
                        <a:ea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200" b="1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GPS Tracking</a:t>
                      </a:r>
                      <a:endParaRPr lang="en-US" sz="1600" b="1" dirty="0">
                        <a:effectLst/>
                        <a:latin typeface="+mn-lt"/>
                        <a:ea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200" b="1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Mic. Access</a:t>
                      </a:r>
                      <a:endParaRPr lang="en-US" sz="1600" b="1" dirty="0">
                        <a:effectLst/>
                        <a:latin typeface="+mn-lt"/>
                        <a:ea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200" b="1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Notifications</a:t>
                      </a:r>
                      <a:endParaRPr lang="en-US" sz="1600" b="1" dirty="0">
                        <a:effectLst/>
                        <a:latin typeface="+mn-lt"/>
                        <a:ea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200" b="1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Alert</a:t>
                      </a:r>
                      <a:endParaRPr lang="en-US" sz="1600" b="1" dirty="0">
                        <a:effectLst/>
                        <a:latin typeface="+mn-lt"/>
                        <a:ea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200" b="1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Store Information</a:t>
                      </a:r>
                      <a:endParaRPr lang="en-US" sz="1600" b="1" dirty="0">
                        <a:effectLst/>
                        <a:latin typeface="+mn-lt"/>
                        <a:ea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3165577"/>
                  </a:ext>
                </a:extLst>
              </a:tr>
              <a:tr h="391524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200" b="1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FBI Child Id</a:t>
                      </a:r>
                      <a:endParaRPr lang="en-US" sz="1600" b="1" dirty="0">
                        <a:effectLst/>
                        <a:latin typeface="+mn-lt"/>
                        <a:ea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endParaRPr lang="en-US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2590285"/>
                  </a:ext>
                </a:extLst>
              </a:tr>
              <a:tr h="440959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200" b="1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Find My Kids</a:t>
                      </a:r>
                      <a:endParaRPr lang="en-US" sz="1600" b="1" dirty="0">
                        <a:effectLst/>
                        <a:latin typeface="+mn-lt"/>
                        <a:ea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endParaRPr lang="en-US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endParaRPr lang="en-US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endParaRPr lang="en-US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9576091"/>
                  </a:ext>
                </a:extLst>
              </a:tr>
              <a:tr h="428106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200" b="1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Child Rescue</a:t>
                      </a:r>
                      <a:endParaRPr lang="en-US" sz="1600" b="1" dirty="0">
                        <a:effectLst/>
                        <a:latin typeface="+mn-lt"/>
                        <a:ea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endParaRPr lang="en-US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5163379"/>
                  </a:ext>
                </a:extLst>
              </a:tr>
              <a:tr h="440959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200" b="1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Social Media</a:t>
                      </a:r>
                      <a:endParaRPr lang="en-US" sz="1600" b="1" dirty="0">
                        <a:effectLst/>
                        <a:latin typeface="+mn-lt"/>
                        <a:ea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endParaRPr lang="en-US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18435917"/>
                  </a:ext>
                </a:extLst>
              </a:tr>
              <a:tr h="428106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200" b="1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Missing Kids</a:t>
                      </a:r>
                      <a:endParaRPr lang="en-US" sz="1600" b="1" dirty="0">
                        <a:effectLst/>
                        <a:latin typeface="+mn-lt"/>
                        <a:ea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endParaRPr lang="en-US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endParaRPr lang="en-US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endParaRPr lang="en-US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18029258"/>
                  </a:ext>
                </a:extLst>
              </a:tr>
              <a:tr h="560792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200" b="1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Our Application</a:t>
                      </a:r>
                      <a:endParaRPr lang="en-US" sz="1600" b="1" dirty="0">
                        <a:effectLst/>
                        <a:latin typeface="+mn-lt"/>
                        <a:ea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endParaRPr lang="en-US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endParaRPr lang="en-US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r>
                        <a:rPr lang="en-US" sz="10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40"/>
                        </a:spcAft>
                      </a:pPr>
                      <a:endParaRPr lang="en-US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00476225"/>
                  </a:ext>
                </a:extLst>
              </a:tr>
            </a:tbl>
          </a:graphicData>
        </a:graphic>
      </p:graphicFrame>
      <p:pic>
        <p:nvPicPr>
          <p:cNvPr id="22" name="Picture 49" descr="Shape&#10;&#10;Description automatically generated with low confidenc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44413" y="3001229"/>
            <a:ext cx="167093" cy="190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49" descr="Shape&#10;&#10;Description automatically generated with low confidenc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44413" y="3001229"/>
            <a:ext cx="167093" cy="190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4" name="Picture 15" descr="Shape&#10;&#10;Description automatically generated with low confidenc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847" y="4832959"/>
            <a:ext cx="167093" cy="190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" name="Picture 48" descr="Shape&#10;&#10;Description automatically generated with low confidenc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24806" y="3001229"/>
            <a:ext cx="167093" cy="190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48" descr="Shape&#10;&#10;Description automatically generated with low confidenc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24474" y="3001229"/>
            <a:ext cx="167093" cy="190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Picture 48" descr="Shape&#10;&#10;Description automatically generated with low confidenc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24473" y="3449332"/>
            <a:ext cx="167093" cy="190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" name="Picture 48" descr="Shape&#10;&#10;Description automatically generated with low confidenc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24472" y="3928269"/>
            <a:ext cx="167093" cy="190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" name="Picture 48" descr="Shape&#10;&#10;Description automatically generated with low confidenc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24473" y="4321510"/>
            <a:ext cx="167093" cy="190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" name="Picture 48" descr="Shape&#10;&#10;Description automatically generated with low confidenc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24473" y="4832959"/>
            <a:ext cx="167093" cy="190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" name="Picture 48" descr="Shape&#10;&#10;Description automatically generated with low confidenc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91806" y="4348436"/>
            <a:ext cx="167093" cy="190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" name="Picture 48" descr="Shape&#10;&#10;Description automatically generated with low confidenc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33745" y="2590921"/>
            <a:ext cx="167093" cy="190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" name="Picture 48" descr="Shape&#10;&#10;Description automatically generated with low confidenc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33744" y="3414284"/>
            <a:ext cx="167093" cy="190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" name="Picture 48" descr="Shape&#10;&#10;Description automatically generated with low confidenc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33743" y="4302794"/>
            <a:ext cx="167093" cy="190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5" name="Picture 48" descr="Shape&#10;&#10;Description automatically generated with low confidenc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33743" y="4832959"/>
            <a:ext cx="167093" cy="190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4036472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A079E-4015-B71C-9D80-85BBEC4E4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62737" y="2766218"/>
            <a:ext cx="4676775" cy="1325563"/>
          </a:xfrm>
        </p:spPr>
        <p:txBody>
          <a:bodyPr/>
          <a:lstStyle/>
          <a:p>
            <a:r>
              <a:rPr lang="en-US" dirty="0"/>
              <a:t>5. Proposed   	work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2F59CB0-DFD0-314A-D895-19529D591A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t>11</a:t>
            </a:fld>
            <a:endParaRPr lang="en-US" sz="1600" b="1" dirty="0"/>
          </a:p>
        </p:txBody>
      </p:sp>
    </p:spTree>
    <p:extLst>
      <p:ext uri="{BB962C8B-B14F-4D97-AF65-F5344CB8AC3E}">
        <p14:creationId xmlns:p14="http://schemas.microsoft.com/office/powerpoint/2010/main" val="208421325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22">
            <a:extLst>
              <a:ext uri="{FF2B5EF4-FFF2-40B4-BE49-F238E27FC236}">
                <a16:creationId xmlns:a16="http://schemas.microsoft.com/office/drawing/2014/main" id="{5FB75C3E-5885-49DD-8190-BB1E8C511A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>
            <a:normAutofit/>
          </a:bodyPr>
          <a:lstStyle/>
          <a:p>
            <a:pPr algn="l"/>
            <a:r>
              <a:rPr lang="en-US" sz="3600" cap="none" dirty="0"/>
              <a:t>What We Will Talk About In This Section?</a:t>
            </a:r>
            <a:endParaRPr lang="en-ZA" sz="3600" dirty="0"/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3C7B196D-A4EB-4450-8C2E-D4F26C77F843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1671601" y="2149157"/>
            <a:ext cx="2743200" cy="2999232"/>
          </a:xfrm>
        </p:spPr>
        <p:txBody>
          <a:bodyPr>
            <a:normAutofit/>
          </a:bodyPr>
          <a:lstStyle/>
          <a:p>
            <a:r>
              <a:rPr lang="en-ZA" dirty="0"/>
              <a:t>1</a:t>
            </a:r>
          </a:p>
        </p:txBody>
      </p:sp>
      <p:sp>
        <p:nvSpPr>
          <p:cNvPr id="31" name="Text Placeholder 30">
            <a:extLst>
              <a:ext uri="{FF2B5EF4-FFF2-40B4-BE49-F238E27FC236}">
                <a16:creationId xmlns:a16="http://schemas.microsoft.com/office/drawing/2014/main" id="{FB4B73B3-17D0-4AD4-A250-23C177FEC520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>
          <a:xfrm>
            <a:off x="1900201" y="3647693"/>
            <a:ext cx="2286000" cy="731520"/>
          </a:xfrm>
        </p:spPr>
        <p:txBody>
          <a:bodyPr/>
          <a:lstStyle/>
          <a:p>
            <a:r>
              <a:rPr lang="en-ZA" sz="2000" b="1" dirty="0"/>
              <a:t>Application Features</a:t>
            </a:r>
          </a:p>
        </p:txBody>
      </p:sp>
      <p:sp>
        <p:nvSpPr>
          <p:cNvPr id="28" name="Text Placeholder 27">
            <a:extLst>
              <a:ext uri="{FF2B5EF4-FFF2-40B4-BE49-F238E27FC236}">
                <a16:creationId xmlns:a16="http://schemas.microsoft.com/office/drawing/2014/main" id="{16852965-5187-4677-B878-4167E7B69252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4724400" y="2149157"/>
            <a:ext cx="2743200" cy="2999232"/>
          </a:xfrm>
        </p:spPr>
        <p:txBody>
          <a:bodyPr/>
          <a:lstStyle/>
          <a:p>
            <a:r>
              <a:rPr lang="en-ZA" dirty="0"/>
              <a:t>2</a:t>
            </a:r>
          </a:p>
        </p:txBody>
      </p:sp>
      <p:sp>
        <p:nvSpPr>
          <p:cNvPr id="24" name="Content Placeholder 23">
            <a:extLst>
              <a:ext uri="{FF2B5EF4-FFF2-40B4-BE49-F238E27FC236}">
                <a16:creationId xmlns:a16="http://schemas.microsoft.com/office/drawing/2014/main" id="{B5A11B9F-68B0-405D-8B6F-DDBC74E10DDA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4953000" y="3647693"/>
            <a:ext cx="2286000" cy="731520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n-ZA" sz="2000" b="1" dirty="0"/>
              <a:t>Requirement Analysis</a:t>
            </a:r>
          </a:p>
        </p:txBody>
      </p:sp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A362839C-0A6B-4785-ACD4-42645537AFF4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7769944" y="2149157"/>
            <a:ext cx="2743201" cy="2997072"/>
          </a:xfrm>
        </p:spPr>
        <p:txBody>
          <a:bodyPr/>
          <a:lstStyle/>
          <a:p>
            <a:r>
              <a:rPr lang="en-ZA" dirty="0"/>
              <a:t>3</a:t>
            </a:r>
          </a:p>
        </p:txBody>
      </p:sp>
      <p:sp>
        <p:nvSpPr>
          <p:cNvPr id="58" name="Text Placeholder 57">
            <a:extLst>
              <a:ext uri="{FF2B5EF4-FFF2-40B4-BE49-F238E27FC236}">
                <a16:creationId xmlns:a16="http://schemas.microsoft.com/office/drawing/2014/main" id="{EC3B6141-A529-43FA-B6A2-0FFA5D9DF00C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>
            <a:off x="7998544" y="3647693"/>
            <a:ext cx="2286000" cy="731520"/>
          </a:xfrm>
        </p:spPr>
        <p:txBody>
          <a:bodyPr/>
          <a:lstStyle/>
          <a:p>
            <a:r>
              <a:rPr lang="en-US" sz="2000" b="1" dirty="0"/>
              <a:t>Diagrams &amp; Architecture</a:t>
            </a:r>
          </a:p>
        </p:txBody>
      </p:sp>
      <p:sp>
        <p:nvSpPr>
          <p:cNvPr id="34" name="Slide Number Placeholder 33">
            <a:extLst>
              <a:ext uri="{FF2B5EF4-FFF2-40B4-BE49-F238E27FC236}">
                <a16:creationId xmlns:a16="http://schemas.microsoft.com/office/drawing/2014/main" id="{5B126C81-EB34-4B01-A592-C14F87B18B6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19B51A1E-902D-48AF-9020-955120F399B6}" type="slidenum">
              <a:rPr lang="en-ZA" sz="1600" b="1" smtClean="0"/>
              <a:pPr/>
              <a:t>12</a:t>
            </a:fld>
            <a:endParaRPr lang="en-ZA" sz="1600" b="1" dirty="0"/>
          </a:p>
        </p:txBody>
      </p:sp>
    </p:spTree>
    <p:extLst>
      <p:ext uri="{BB962C8B-B14F-4D97-AF65-F5344CB8AC3E}">
        <p14:creationId xmlns:p14="http://schemas.microsoft.com/office/powerpoint/2010/main" val="383130072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>
          <a:xfrm>
            <a:off x="8711381" y="6397678"/>
            <a:ext cx="2743200" cy="365125"/>
          </a:xfrm>
        </p:spPr>
        <p:txBody>
          <a:bodyPr/>
          <a:lstStyle/>
          <a:p>
            <a:fld id="{19B51A1E-902D-48AF-9020-955120F399B6}" type="slidenum">
              <a:rPr lang="en-ZA" sz="1600" b="1" smtClean="0"/>
              <a:pPr/>
              <a:t>13</a:t>
            </a:fld>
            <a:endParaRPr lang="en-ZA" sz="1600" b="1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F74F4D5-3C42-49F1-A43A-DB5BD34D9F2F}"/>
              </a:ext>
            </a:extLst>
          </p:cNvPr>
          <p:cNvGrpSpPr/>
          <p:nvPr/>
        </p:nvGrpSpPr>
        <p:grpSpPr>
          <a:xfrm>
            <a:off x="4452156" y="1871898"/>
            <a:ext cx="3266846" cy="3644348"/>
            <a:chOff x="6877358" y="2834537"/>
            <a:chExt cx="2225773" cy="2482973"/>
          </a:xfrm>
        </p:grpSpPr>
        <p:sp>
          <p:nvSpPr>
            <p:cNvPr id="13" name="Freeform: Shape 1583">
              <a:extLst>
                <a:ext uri="{FF2B5EF4-FFF2-40B4-BE49-F238E27FC236}">
                  <a16:creationId xmlns:a16="http://schemas.microsoft.com/office/drawing/2014/main" id="{17ACDCB7-0335-4BC0-8794-7A9D0439731B}"/>
                </a:ext>
              </a:extLst>
            </p:cNvPr>
            <p:cNvSpPr/>
            <p:nvPr/>
          </p:nvSpPr>
          <p:spPr>
            <a:xfrm>
              <a:off x="7038977" y="3038102"/>
              <a:ext cx="1249102" cy="711854"/>
            </a:xfrm>
            <a:custGeom>
              <a:avLst/>
              <a:gdLst>
                <a:gd name="connsiteX0" fmla="*/ 2316480 w 2657475"/>
                <a:gd name="connsiteY0" fmla="*/ 1323023 h 1514475"/>
                <a:gd name="connsiteX1" fmla="*/ 2662238 w 2657475"/>
                <a:gd name="connsiteY1" fmla="*/ 1523048 h 1514475"/>
                <a:gd name="connsiteX2" fmla="*/ 1828800 w 2657475"/>
                <a:gd name="connsiteY2" fmla="*/ 0 h 1514475"/>
                <a:gd name="connsiteX3" fmla="*/ 0 w 2657475"/>
                <a:gd name="connsiteY3" fmla="*/ 1323023 h 1514475"/>
                <a:gd name="connsiteX4" fmla="*/ 1753553 w 2657475"/>
                <a:gd name="connsiteY4" fmla="*/ 1323023 h 1514475"/>
                <a:gd name="connsiteX5" fmla="*/ 2316480 w 2657475"/>
                <a:gd name="connsiteY5" fmla="*/ 1323023 h 15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57475" h="1514475">
                  <a:moveTo>
                    <a:pt x="2316480" y="1323023"/>
                  </a:moveTo>
                  <a:cubicBezTo>
                    <a:pt x="2459355" y="1323023"/>
                    <a:pt x="2590800" y="1399223"/>
                    <a:pt x="2662238" y="1523048"/>
                  </a:cubicBezTo>
                  <a:lnTo>
                    <a:pt x="1828800" y="0"/>
                  </a:lnTo>
                  <a:cubicBezTo>
                    <a:pt x="1007745" y="75248"/>
                    <a:pt x="316230" y="598170"/>
                    <a:pt x="0" y="1323023"/>
                  </a:cubicBezTo>
                  <a:lnTo>
                    <a:pt x="1753553" y="1323023"/>
                  </a:lnTo>
                  <a:lnTo>
                    <a:pt x="2316480" y="1323023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584">
              <a:extLst>
                <a:ext uri="{FF2B5EF4-FFF2-40B4-BE49-F238E27FC236}">
                  <a16:creationId xmlns:a16="http://schemas.microsoft.com/office/drawing/2014/main" id="{858E986B-747E-4F5C-99B4-97D46AC764F0}"/>
                </a:ext>
              </a:extLst>
            </p:cNvPr>
            <p:cNvSpPr/>
            <p:nvPr/>
          </p:nvSpPr>
          <p:spPr>
            <a:xfrm rot="3670588">
              <a:off x="7805744" y="3103161"/>
              <a:ext cx="1249102" cy="711854"/>
            </a:xfrm>
            <a:custGeom>
              <a:avLst/>
              <a:gdLst>
                <a:gd name="connsiteX0" fmla="*/ 2316480 w 2657475"/>
                <a:gd name="connsiteY0" fmla="*/ 1323023 h 1514475"/>
                <a:gd name="connsiteX1" fmla="*/ 2662238 w 2657475"/>
                <a:gd name="connsiteY1" fmla="*/ 1523048 h 1514475"/>
                <a:gd name="connsiteX2" fmla="*/ 1828800 w 2657475"/>
                <a:gd name="connsiteY2" fmla="*/ 0 h 1514475"/>
                <a:gd name="connsiteX3" fmla="*/ 0 w 2657475"/>
                <a:gd name="connsiteY3" fmla="*/ 1323023 h 1514475"/>
                <a:gd name="connsiteX4" fmla="*/ 1753553 w 2657475"/>
                <a:gd name="connsiteY4" fmla="*/ 1323023 h 1514475"/>
                <a:gd name="connsiteX5" fmla="*/ 2316480 w 2657475"/>
                <a:gd name="connsiteY5" fmla="*/ 1323023 h 15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57475" h="1514475">
                  <a:moveTo>
                    <a:pt x="2316480" y="1323023"/>
                  </a:moveTo>
                  <a:cubicBezTo>
                    <a:pt x="2459355" y="1323023"/>
                    <a:pt x="2590800" y="1399223"/>
                    <a:pt x="2662238" y="1523048"/>
                  </a:cubicBezTo>
                  <a:lnTo>
                    <a:pt x="1828800" y="0"/>
                  </a:lnTo>
                  <a:cubicBezTo>
                    <a:pt x="1007745" y="75248"/>
                    <a:pt x="316230" y="598170"/>
                    <a:pt x="0" y="1323023"/>
                  </a:cubicBezTo>
                  <a:lnTo>
                    <a:pt x="1753553" y="1323023"/>
                  </a:lnTo>
                  <a:lnTo>
                    <a:pt x="2316480" y="1323023"/>
                  </a:ln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585">
              <a:extLst>
                <a:ext uri="{FF2B5EF4-FFF2-40B4-BE49-F238E27FC236}">
                  <a16:creationId xmlns:a16="http://schemas.microsoft.com/office/drawing/2014/main" id="{D8A0FDCC-4318-4EE6-9AD3-B961B41A737F}"/>
                </a:ext>
              </a:extLst>
            </p:cNvPr>
            <p:cNvSpPr/>
            <p:nvPr/>
          </p:nvSpPr>
          <p:spPr>
            <a:xfrm rot="7270810">
              <a:off x="8122653" y="3785392"/>
              <a:ext cx="1249102" cy="711854"/>
            </a:xfrm>
            <a:custGeom>
              <a:avLst/>
              <a:gdLst>
                <a:gd name="connsiteX0" fmla="*/ 2316480 w 2657475"/>
                <a:gd name="connsiteY0" fmla="*/ 1323023 h 1514475"/>
                <a:gd name="connsiteX1" fmla="*/ 2662238 w 2657475"/>
                <a:gd name="connsiteY1" fmla="*/ 1523048 h 1514475"/>
                <a:gd name="connsiteX2" fmla="*/ 1828800 w 2657475"/>
                <a:gd name="connsiteY2" fmla="*/ 0 h 1514475"/>
                <a:gd name="connsiteX3" fmla="*/ 0 w 2657475"/>
                <a:gd name="connsiteY3" fmla="*/ 1323023 h 1514475"/>
                <a:gd name="connsiteX4" fmla="*/ 1753553 w 2657475"/>
                <a:gd name="connsiteY4" fmla="*/ 1323023 h 1514475"/>
                <a:gd name="connsiteX5" fmla="*/ 2316480 w 2657475"/>
                <a:gd name="connsiteY5" fmla="*/ 1323023 h 15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57475" h="1514475">
                  <a:moveTo>
                    <a:pt x="2316480" y="1323023"/>
                  </a:moveTo>
                  <a:cubicBezTo>
                    <a:pt x="2459355" y="1323023"/>
                    <a:pt x="2590800" y="1399223"/>
                    <a:pt x="2662238" y="1523048"/>
                  </a:cubicBezTo>
                  <a:lnTo>
                    <a:pt x="1828800" y="0"/>
                  </a:lnTo>
                  <a:cubicBezTo>
                    <a:pt x="1007745" y="75248"/>
                    <a:pt x="316230" y="598170"/>
                    <a:pt x="0" y="1323023"/>
                  </a:cubicBezTo>
                  <a:lnTo>
                    <a:pt x="1753553" y="1323023"/>
                  </a:lnTo>
                  <a:lnTo>
                    <a:pt x="2316480" y="1323023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86">
              <a:extLst>
                <a:ext uri="{FF2B5EF4-FFF2-40B4-BE49-F238E27FC236}">
                  <a16:creationId xmlns:a16="http://schemas.microsoft.com/office/drawing/2014/main" id="{4A609B19-789A-41B3-8903-2CA918411D16}"/>
                </a:ext>
              </a:extLst>
            </p:cNvPr>
            <p:cNvSpPr/>
            <p:nvPr/>
          </p:nvSpPr>
          <p:spPr>
            <a:xfrm rot="10800000">
              <a:off x="7695508" y="4404306"/>
              <a:ext cx="1249102" cy="711854"/>
            </a:xfrm>
            <a:custGeom>
              <a:avLst/>
              <a:gdLst>
                <a:gd name="connsiteX0" fmla="*/ 2316480 w 2657475"/>
                <a:gd name="connsiteY0" fmla="*/ 1323023 h 1514475"/>
                <a:gd name="connsiteX1" fmla="*/ 2662238 w 2657475"/>
                <a:gd name="connsiteY1" fmla="*/ 1523048 h 1514475"/>
                <a:gd name="connsiteX2" fmla="*/ 1828800 w 2657475"/>
                <a:gd name="connsiteY2" fmla="*/ 0 h 1514475"/>
                <a:gd name="connsiteX3" fmla="*/ 0 w 2657475"/>
                <a:gd name="connsiteY3" fmla="*/ 1323023 h 1514475"/>
                <a:gd name="connsiteX4" fmla="*/ 1753553 w 2657475"/>
                <a:gd name="connsiteY4" fmla="*/ 1323023 h 1514475"/>
                <a:gd name="connsiteX5" fmla="*/ 2316480 w 2657475"/>
                <a:gd name="connsiteY5" fmla="*/ 1323023 h 15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57475" h="1514475">
                  <a:moveTo>
                    <a:pt x="2316480" y="1323023"/>
                  </a:moveTo>
                  <a:cubicBezTo>
                    <a:pt x="2459355" y="1323023"/>
                    <a:pt x="2590800" y="1399223"/>
                    <a:pt x="2662238" y="1523048"/>
                  </a:cubicBezTo>
                  <a:lnTo>
                    <a:pt x="1828800" y="0"/>
                  </a:lnTo>
                  <a:cubicBezTo>
                    <a:pt x="1007745" y="75248"/>
                    <a:pt x="316230" y="598170"/>
                    <a:pt x="0" y="1323023"/>
                  </a:cubicBezTo>
                  <a:lnTo>
                    <a:pt x="1753553" y="1323023"/>
                  </a:lnTo>
                  <a:lnTo>
                    <a:pt x="2316480" y="1323023"/>
                  </a:ln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587">
              <a:extLst>
                <a:ext uri="{FF2B5EF4-FFF2-40B4-BE49-F238E27FC236}">
                  <a16:creationId xmlns:a16="http://schemas.microsoft.com/office/drawing/2014/main" id="{B276FF5C-F26C-41F4-A1F6-5FCE08D41015}"/>
                </a:ext>
              </a:extLst>
            </p:cNvPr>
            <p:cNvSpPr/>
            <p:nvPr/>
          </p:nvSpPr>
          <p:spPr>
            <a:xfrm rot="14457652">
              <a:off x="6928147" y="4337032"/>
              <a:ext cx="1249102" cy="711854"/>
            </a:xfrm>
            <a:custGeom>
              <a:avLst/>
              <a:gdLst>
                <a:gd name="connsiteX0" fmla="*/ 2316480 w 2657475"/>
                <a:gd name="connsiteY0" fmla="*/ 1323023 h 1514475"/>
                <a:gd name="connsiteX1" fmla="*/ 2662238 w 2657475"/>
                <a:gd name="connsiteY1" fmla="*/ 1523048 h 1514475"/>
                <a:gd name="connsiteX2" fmla="*/ 1828800 w 2657475"/>
                <a:gd name="connsiteY2" fmla="*/ 0 h 1514475"/>
                <a:gd name="connsiteX3" fmla="*/ 0 w 2657475"/>
                <a:gd name="connsiteY3" fmla="*/ 1323023 h 1514475"/>
                <a:gd name="connsiteX4" fmla="*/ 1753553 w 2657475"/>
                <a:gd name="connsiteY4" fmla="*/ 1323023 h 1514475"/>
                <a:gd name="connsiteX5" fmla="*/ 2316480 w 2657475"/>
                <a:gd name="connsiteY5" fmla="*/ 1323023 h 15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57475" h="1514475">
                  <a:moveTo>
                    <a:pt x="2316480" y="1323023"/>
                  </a:moveTo>
                  <a:cubicBezTo>
                    <a:pt x="2459355" y="1323023"/>
                    <a:pt x="2590800" y="1399223"/>
                    <a:pt x="2662238" y="1523048"/>
                  </a:cubicBezTo>
                  <a:lnTo>
                    <a:pt x="1828800" y="0"/>
                  </a:lnTo>
                  <a:cubicBezTo>
                    <a:pt x="1007745" y="75248"/>
                    <a:pt x="316230" y="598170"/>
                    <a:pt x="0" y="1323023"/>
                  </a:cubicBezTo>
                  <a:lnTo>
                    <a:pt x="1753553" y="1323023"/>
                  </a:lnTo>
                  <a:lnTo>
                    <a:pt x="2316480" y="1323023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588">
              <a:extLst>
                <a:ext uri="{FF2B5EF4-FFF2-40B4-BE49-F238E27FC236}">
                  <a16:creationId xmlns:a16="http://schemas.microsoft.com/office/drawing/2014/main" id="{723BD489-6163-4D3C-875E-C4D9C8D1EF7D}"/>
                </a:ext>
              </a:extLst>
            </p:cNvPr>
            <p:cNvSpPr/>
            <p:nvPr/>
          </p:nvSpPr>
          <p:spPr>
            <a:xfrm rot="17941879">
              <a:off x="6608734" y="3679172"/>
              <a:ext cx="1249102" cy="711854"/>
            </a:xfrm>
            <a:custGeom>
              <a:avLst/>
              <a:gdLst>
                <a:gd name="connsiteX0" fmla="*/ 2316480 w 2657475"/>
                <a:gd name="connsiteY0" fmla="*/ 1323023 h 1514475"/>
                <a:gd name="connsiteX1" fmla="*/ 2662238 w 2657475"/>
                <a:gd name="connsiteY1" fmla="*/ 1523048 h 1514475"/>
                <a:gd name="connsiteX2" fmla="*/ 1828800 w 2657475"/>
                <a:gd name="connsiteY2" fmla="*/ 0 h 1514475"/>
                <a:gd name="connsiteX3" fmla="*/ 0 w 2657475"/>
                <a:gd name="connsiteY3" fmla="*/ 1323023 h 1514475"/>
                <a:gd name="connsiteX4" fmla="*/ 1753553 w 2657475"/>
                <a:gd name="connsiteY4" fmla="*/ 1323023 h 1514475"/>
                <a:gd name="connsiteX5" fmla="*/ 2316480 w 2657475"/>
                <a:gd name="connsiteY5" fmla="*/ 1323023 h 15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57475" h="1514475">
                  <a:moveTo>
                    <a:pt x="2316480" y="1323023"/>
                  </a:moveTo>
                  <a:cubicBezTo>
                    <a:pt x="2459355" y="1323023"/>
                    <a:pt x="2590800" y="1399223"/>
                    <a:pt x="2662238" y="1523048"/>
                  </a:cubicBezTo>
                  <a:lnTo>
                    <a:pt x="1828800" y="0"/>
                  </a:lnTo>
                  <a:cubicBezTo>
                    <a:pt x="1007745" y="75248"/>
                    <a:pt x="316230" y="598170"/>
                    <a:pt x="0" y="1323023"/>
                  </a:cubicBezTo>
                  <a:lnTo>
                    <a:pt x="1753553" y="1323023"/>
                  </a:lnTo>
                  <a:lnTo>
                    <a:pt x="2316480" y="1323023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589">
              <a:extLst>
                <a:ext uri="{FF2B5EF4-FFF2-40B4-BE49-F238E27FC236}">
                  <a16:creationId xmlns:a16="http://schemas.microsoft.com/office/drawing/2014/main" id="{17EAE5B3-86C9-4810-AE3C-2E342F0D6824}"/>
                </a:ext>
              </a:extLst>
            </p:cNvPr>
            <p:cNvSpPr/>
            <p:nvPr/>
          </p:nvSpPr>
          <p:spPr>
            <a:xfrm>
              <a:off x="7539646" y="3659967"/>
              <a:ext cx="904368" cy="832735"/>
            </a:xfrm>
            <a:custGeom>
              <a:avLst/>
              <a:gdLst>
                <a:gd name="connsiteX0" fmla="*/ 1244203 w 1924050"/>
                <a:gd name="connsiteY0" fmla="*/ 0 h 1771650"/>
                <a:gd name="connsiteX1" fmla="*/ 681276 w 1924050"/>
                <a:gd name="connsiteY1" fmla="*/ 0 h 1771650"/>
                <a:gd name="connsiteX2" fmla="*/ 335518 w 1924050"/>
                <a:gd name="connsiteY2" fmla="*/ 200025 h 1771650"/>
                <a:gd name="connsiteX3" fmla="*/ 53578 w 1924050"/>
                <a:gd name="connsiteY3" fmla="*/ 687705 h 1771650"/>
                <a:gd name="connsiteX4" fmla="*/ 53578 w 1924050"/>
                <a:gd name="connsiteY4" fmla="*/ 1087755 h 1771650"/>
                <a:gd name="connsiteX5" fmla="*/ 335518 w 1924050"/>
                <a:gd name="connsiteY5" fmla="*/ 1575435 h 1771650"/>
                <a:gd name="connsiteX6" fmla="*/ 681276 w 1924050"/>
                <a:gd name="connsiteY6" fmla="*/ 1775460 h 1771650"/>
                <a:gd name="connsiteX7" fmla="*/ 1244203 w 1924050"/>
                <a:gd name="connsiteY7" fmla="*/ 1775460 h 1771650"/>
                <a:gd name="connsiteX8" fmla="*/ 1589961 w 1924050"/>
                <a:gd name="connsiteY8" fmla="*/ 1575435 h 1771650"/>
                <a:gd name="connsiteX9" fmla="*/ 1871901 w 1924050"/>
                <a:gd name="connsiteY9" fmla="*/ 1087755 h 1771650"/>
                <a:gd name="connsiteX10" fmla="*/ 1912858 w 1924050"/>
                <a:gd name="connsiteY10" fmla="*/ 789623 h 1771650"/>
                <a:gd name="connsiteX11" fmla="*/ 1589961 w 1924050"/>
                <a:gd name="connsiteY11" fmla="*/ 200025 h 1771650"/>
                <a:gd name="connsiteX12" fmla="*/ 1244203 w 1924050"/>
                <a:gd name="connsiteY12" fmla="*/ 0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24050" h="1771650">
                  <a:moveTo>
                    <a:pt x="1244203" y="0"/>
                  </a:moveTo>
                  <a:lnTo>
                    <a:pt x="681276" y="0"/>
                  </a:lnTo>
                  <a:cubicBezTo>
                    <a:pt x="538401" y="0"/>
                    <a:pt x="406956" y="76200"/>
                    <a:pt x="335518" y="200025"/>
                  </a:cubicBezTo>
                  <a:lnTo>
                    <a:pt x="53578" y="687705"/>
                  </a:lnTo>
                  <a:cubicBezTo>
                    <a:pt x="-17859" y="811530"/>
                    <a:pt x="-17859" y="963930"/>
                    <a:pt x="53578" y="1087755"/>
                  </a:cubicBezTo>
                  <a:lnTo>
                    <a:pt x="335518" y="1575435"/>
                  </a:lnTo>
                  <a:cubicBezTo>
                    <a:pt x="406956" y="1699260"/>
                    <a:pt x="539353" y="1775460"/>
                    <a:pt x="681276" y="1775460"/>
                  </a:cubicBezTo>
                  <a:lnTo>
                    <a:pt x="1244203" y="1775460"/>
                  </a:lnTo>
                  <a:cubicBezTo>
                    <a:pt x="1387078" y="1775460"/>
                    <a:pt x="1518523" y="1699260"/>
                    <a:pt x="1589961" y="1575435"/>
                  </a:cubicBezTo>
                  <a:lnTo>
                    <a:pt x="1871901" y="1087755"/>
                  </a:lnTo>
                  <a:cubicBezTo>
                    <a:pt x="1924288" y="996315"/>
                    <a:pt x="1938576" y="889635"/>
                    <a:pt x="1912858" y="789623"/>
                  </a:cubicBezTo>
                  <a:lnTo>
                    <a:pt x="1589961" y="200025"/>
                  </a:lnTo>
                  <a:cubicBezTo>
                    <a:pt x="1518523" y="76200"/>
                    <a:pt x="1387078" y="0"/>
                    <a:pt x="1244203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590">
              <a:extLst>
                <a:ext uri="{FF2B5EF4-FFF2-40B4-BE49-F238E27FC236}">
                  <a16:creationId xmlns:a16="http://schemas.microsoft.com/office/drawing/2014/main" id="{4E95FAA8-E08B-47F0-BFDA-4665EA9D6D03}"/>
                </a:ext>
              </a:extLst>
            </p:cNvPr>
            <p:cNvSpPr/>
            <p:nvPr/>
          </p:nvSpPr>
          <p:spPr>
            <a:xfrm>
              <a:off x="8286980" y="3753985"/>
              <a:ext cx="147743" cy="273101"/>
            </a:xfrm>
            <a:custGeom>
              <a:avLst/>
              <a:gdLst>
                <a:gd name="connsiteX0" fmla="*/ 0 w 314325"/>
                <a:gd name="connsiteY0" fmla="*/ 0 h 581025"/>
                <a:gd name="connsiteX1" fmla="*/ 0 w 314325"/>
                <a:gd name="connsiteY1" fmla="*/ 0 h 581025"/>
                <a:gd name="connsiteX2" fmla="*/ 322897 w 314325"/>
                <a:gd name="connsiteY2" fmla="*/ 589598 h 581025"/>
                <a:gd name="connsiteX3" fmla="*/ 281940 w 314325"/>
                <a:gd name="connsiteY3" fmla="*/ 487680 h 581025"/>
                <a:gd name="connsiteX4" fmla="*/ 0 w 314325"/>
                <a:gd name="connsiteY4" fmla="*/ 0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4325" h="5810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322897" y="589598"/>
                  </a:lnTo>
                  <a:cubicBezTo>
                    <a:pt x="314325" y="554355"/>
                    <a:pt x="300038" y="520065"/>
                    <a:pt x="281940" y="48768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28CF02FE-7345-465C-BA3B-585BF495BC39}"/>
              </a:ext>
            </a:extLst>
          </p:cNvPr>
          <p:cNvGrpSpPr/>
          <p:nvPr/>
        </p:nvGrpSpPr>
        <p:grpSpPr>
          <a:xfrm>
            <a:off x="8079322" y="1560695"/>
            <a:ext cx="3398912" cy="1106790"/>
            <a:chOff x="2551705" y="4283314"/>
            <a:chExt cx="3398912" cy="1106790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759A4D81-09F0-47D9-80FD-EAA38C9228F3}"/>
                </a:ext>
              </a:extLst>
            </p:cNvPr>
            <p:cNvSpPr txBox="1"/>
            <p:nvPr/>
          </p:nvSpPr>
          <p:spPr>
            <a:xfrm>
              <a:off x="2669886" y="4559107"/>
              <a:ext cx="328073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The user who uploaded the profile of the missing kid will receive a list of high percentage matches of missing children from the database.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77FA6E0-1BE3-4236-B15B-60E7D3C60C4A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Searching for a match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84A0FABE-980A-4190-8F20-D7E5D249F479}"/>
              </a:ext>
            </a:extLst>
          </p:cNvPr>
          <p:cNvGrpSpPr/>
          <p:nvPr/>
        </p:nvGrpSpPr>
        <p:grpSpPr>
          <a:xfrm>
            <a:off x="8924432" y="3252574"/>
            <a:ext cx="2725701" cy="729466"/>
            <a:chOff x="2551705" y="4283314"/>
            <a:chExt cx="2749071" cy="729466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A7797AC-D391-402C-A9E5-716EC138EC3C}"/>
                </a:ext>
              </a:extLst>
            </p:cNvPr>
            <p:cNvSpPr txBox="1"/>
            <p:nvPr/>
          </p:nvSpPr>
          <p:spPr>
            <a:xfrm>
              <a:off x="2696873" y="4551115"/>
              <a:ext cx="260390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 rtl="1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The application sends notification to the user in case of a match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6DC3E3F4-7973-41C3-92F5-94750AE0130E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Notification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1B00CBDF-7634-437B-B975-66ED47A5AD7B}"/>
              </a:ext>
            </a:extLst>
          </p:cNvPr>
          <p:cNvGrpSpPr/>
          <p:nvPr/>
        </p:nvGrpSpPr>
        <p:grpSpPr>
          <a:xfrm>
            <a:off x="8197503" y="5015150"/>
            <a:ext cx="2458815" cy="725203"/>
            <a:chOff x="2551705" y="4283314"/>
            <a:chExt cx="2458815" cy="725203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ECAFC6F-8852-41D5-9A8C-16720752CB9E}"/>
                </a:ext>
              </a:extLst>
            </p:cNvPr>
            <p:cNvSpPr txBox="1"/>
            <p:nvPr/>
          </p:nvSpPr>
          <p:spPr>
            <a:xfrm>
              <a:off x="2653518" y="4546852"/>
              <a:ext cx="235700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The application  allows users to view a list of all missing kids 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BB9AA589-662C-4D92-B4E4-D560D5E9E375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List missing kids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AC4E047D-04FA-401E-ACC3-EE51C00E6642}"/>
              </a:ext>
            </a:extLst>
          </p:cNvPr>
          <p:cNvGrpSpPr/>
          <p:nvPr/>
        </p:nvGrpSpPr>
        <p:grpSpPr>
          <a:xfrm>
            <a:off x="73310" y="3300504"/>
            <a:ext cx="3639888" cy="681536"/>
            <a:chOff x="1736514" y="4155776"/>
            <a:chExt cx="3639888" cy="681536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9CFA3EAC-DEB2-4881-965C-9C3415D89426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840E83F6-0510-4AE4-884C-A3E4C1BA0EA7}"/>
                </a:ext>
              </a:extLst>
            </p:cNvPr>
            <p:cNvSpPr txBox="1"/>
            <p:nvPr/>
          </p:nvSpPr>
          <p:spPr>
            <a:xfrm>
              <a:off x="1736514" y="4155776"/>
              <a:ext cx="363988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Missing Kid / Create Kid Profile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048F284-CAF9-4FBC-A93C-536798155AF8}"/>
              </a:ext>
            </a:extLst>
          </p:cNvPr>
          <p:cNvGrpSpPr/>
          <p:nvPr/>
        </p:nvGrpSpPr>
        <p:grpSpPr>
          <a:xfrm>
            <a:off x="860585" y="4932127"/>
            <a:ext cx="3032100" cy="808226"/>
            <a:chOff x="2030066" y="4029086"/>
            <a:chExt cx="3058097" cy="808226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FE7E86C2-3D96-4DE8-AD25-2F4C5211668C}"/>
                </a:ext>
              </a:extLst>
            </p:cNvPr>
            <p:cNvSpPr txBox="1"/>
            <p:nvPr/>
          </p:nvSpPr>
          <p:spPr>
            <a:xfrm>
              <a:off x="2551707" y="4560313"/>
              <a:ext cx="23570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AA97F1FD-48AC-4BC7-8DAA-78BE76DB0367}"/>
                </a:ext>
              </a:extLst>
            </p:cNvPr>
            <p:cNvSpPr txBox="1"/>
            <p:nvPr/>
          </p:nvSpPr>
          <p:spPr>
            <a:xfrm>
              <a:off x="2030066" y="4029086"/>
              <a:ext cx="305809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found kid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A6C2C1E6-F7AD-4F30-A3DB-05F44B81D73B}"/>
              </a:ext>
            </a:extLst>
          </p:cNvPr>
          <p:cNvGrpSpPr/>
          <p:nvPr/>
        </p:nvGrpSpPr>
        <p:grpSpPr>
          <a:xfrm>
            <a:off x="1218916" y="1645209"/>
            <a:ext cx="2929247" cy="754452"/>
            <a:chOff x="2424118" y="4135537"/>
            <a:chExt cx="2581608" cy="754452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193CF581-DD89-43A3-936E-24FA4FF0FD70}"/>
                </a:ext>
              </a:extLst>
            </p:cNvPr>
            <p:cNvSpPr txBox="1"/>
            <p:nvPr/>
          </p:nvSpPr>
          <p:spPr>
            <a:xfrm>
              <a:off x="2648724" y="4428324"/>
              <a:ext cx="235700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 rtl="1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Users should be registered into the application to use its features.  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CEC15AF9-3A3E-4108-A7F3-4BD82876FA39}"/>
                </a:ext>
              </a:extLst>
            </p:cNvPr>
            <p:cNvSpPr txBox="1"/>
            <p:nvPr/>
          </p:nvSpPr>
          <p:spPr>
            <a:xfrm>
              <a:off x="2424118" y="4135537"/>
              <a:ext cx="23369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 rtl="1"/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Register/Login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9" name="Freeform 47">
            <a:extLst>
              <a:ext uri="{FF2B5EF4-FFF2-40B4-BE49-F238E27FC236}">
                <a16:creationId xmlns:a16="http://schemas.microsoft.com/office/drawing/2014/main" id="{1DF07385-4EF0-46D4-8434-252E39742506}"/>
              </a:ext>
            </a:extLst>
          </p:cNvPr>
          <p:cNvSpPr/>
          <p:nvPr/>
        </p:nvSpPr>
        <p:spPr>
          <a:xfrm>
            <a:off x="4091836" y="1950938"/>
            <a:ext cx="1332383" cy="308088"/>
          </a:xfrm>
          <a:custGeom>
            <a:avLst/>
            <a:gdLst>
              <a:gd name="connsiteX0" fmla="*/ 2333625 w 2333625"/>
              <a:gd name="connsiteY0" fmla="*/ 514350 h 514350"/>
              <a:gd name="connsiteX1" fmla="*/ 1952625 w 2333625"/>
              <a:gd name="connsiteY1" fmla="*/ 0 h 514350"/>
              <a:gd name="connsiteX2" fmla="*/ 0 w 2333625"/>
              <a:gd name="connsiteY2" fmla="*/ 0 h 51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33625" h="514350">
                <a:moveTo>
                  <a:pt x="2333625" y="514350"/>
                </a:moveTo>
                <a:lnTo>
                  <a:pt x="1952625" y="0"/>
                </a:lnTo>
                <a:lnTo>
                  <a:pt x="0" y="0"/>
                </a:lnTo>
              </a:path>
            </a:pathLst>
          </a:custGeom>
          <a:ln w="25400">
            <a:solidFill>
              <a:schemeClr val="accent1"/>
            </a:solidFill>
            <a:prstDash val="sysDot"/>
            <a:headEnd type="none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40" name="Freeform 47">
            <a:extLst>
              <a:ext uri="{FF2B5EF4-FFF2-40B4-BE49-F238E27FC236}">
                <a16:creationId xmlns:a16="http://schemas.microsoft.com/office/drawing/2014/main" id="{4B1DCD00-45C8-4F4A-9314-EAE54C0D8E7D}"/>
              </a:ext>
            </a:extLst>
          </p:cNvPr>
          <p:cNvSpPr/>
          <p:nvPr/>
        </p:nvSpPr>
        <p:spPr>
          <a:xfrm flipH="1">
            <a:off x="6658445" y="1946397"/>
            <a:ext cx="1332383" cy="308088"/>
          </a:xfrm>
          <a:custGeom>
            <a:avLst/>
            <a:gdLst>
              <a:gd name="connsiteX0" fmla="*/ 2333625 w 2333625"/>
              <a:gd name="connsiteY0" fmla="*/ 514350 h 514350"/>
              <a:gd name="connsiteX1" fmla="*/ 1952625 w 2333625"/>
              <a:gd name="connsiteY1" fmla="*/ 0 h 514350"/>
              <a:gd name="connsiteX2" fmla="*/ 0 w 2333625"/>
              <a:gd name="connsiteY2" fmla="*/ 0 h 51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33625" h="514350">
                <a:moveTo>
                  <a:pt x="2333625" y="514350"/>
                </a:moveTo>
                <a:lnTo>
                  <a:pt x="1952625" y="0"/>
                </a:lnTo>
                <a:lnTo>
                  <a:pt x="0" y="0"/>
                </a:lnTo>
              </a:path>
            </a:pathLst>
          </a:custGeom>
          <a:ln w="25400">
            <a:solidFill>
              <a:schemeClr val="accent6"/>
            </a:solidFill>
            <a:prstDash val="sysDot"/>
            <a:headEnd type="none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41" name="Freeform 47">
            <a:extLst>
              <a:ext uri="{FF2B5EF4-FFF2-40B4-BE49-F238E27FC236}">
                <a16:creationId xmlns:a16="http://schemas.microsoft.com/office/drawing/2014/main" id="{128655A6-9172-4727-ACAD-197DF347D1CE}"/>
              </a:ext>
            </a:extLst>
          </p:cNvPr>
          <p:cNvSpPr/>
          <p:nvPr/>
        </p:nvSpPr>
        <p:spPr>
          <a:xfrm flipV="1">
            <a:off x="4150210" y="5165424"/>
            <a:ext cx="1332383" cy="308088"/>
          </a:xfrm>
          <a:custGeom>
            <a:avLst/>
            <a:gdLst>
              <a:gd name="connsiteX0" fmla="*/ 2333625 w 2333625"/>
              <a:gd name="connsiteY0" fmla="*/ 514350 h 514350"/>
              <a:gd name="connsiteX1" fmla="*/ 1952625 w 2333625"/>
              <a:gd name="connsiteY1" fmla="*/ 0 h 514350"/>
              <a:gd name="connsiteX2" fmla="*/ 0 w 2333625"/>
              <a:gd name="connsiteY2" fmla="*/ 0 h 51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33625" h="514350">
                <a:moveTo>
                  <a:pt x="2333625" y="514350"/>
                </a:moveTo>
                <a:lnTo>
                  <a:pt x="1952625" y="0"/>
                </a:lnTo>
                <a:lnTo>
                  <a:pt x="0" y="0"/>
                </a:lnTo>
              </a:path>
            </a:pathLst>
          </a:custGeom>
          <a:ln w="25400">
            <a:solidFill>
              <a:schemeClr val="accent5"/>
            </a:solidFill>
            <a:prstDash val="sysDot"/>
            <a:headEnd type="none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42" name="Freeform 47">
            <a:extLst>
              <a:ext uri="{FF2B5EF4-FFF2-40B4-BE49-F238E27FC236}">
                <a16:creationId xmlns:a16="http://schemas.microsoft.com/office/drawing/2014/main" id="{196CCFD7-162B-4421-836D-E601EF494E3B}"/>
              </a:ext>
            </a:extLst>
          </p:cNvPr>
          <p:cNvSpPr/>
          <p:nvPr/>
        </p:nvSpPr>
        <p:spPr>
          <a:xfrm flipH="1" flipV="1">
            <a:off x="6716819" y="5169965"/>
            <a:ext cx="1332383" cy="308088"/>
          </a:xfrm>
          <a:custGeom>
            <a:avLst/>
            <a:gdLst>
              <a:gd name="connsiteX0" fmla="*/ 2333625 w 2333625"/>
              <a:gd name="connsiteY0" fmla="*/ 514350 h 514350"/>
              <a:gd name="connsiteX1" fmla="*/ 1952625 w 2333625"/>
              <a:gd name="connsiteY1" fmla="*/ 0 h 514350"/>
              <a:gd name="connsiteX2" fmla="*/ 0 w 2333625"/>
              <a:gd name="connsiteY2" fmla="*/ 0 h 51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33625" h="514350">
                <a:moveTo>
                  <a:pt x="2333625" y="514350"/>
                </a:moveTo>
                <a:lnTo>
                  <a:pt x="1952625" y="0"/>
                </a:lnTo>
                <a:lnTo>
                  <a:pt x="0" y="0"/>
                </a:lnTo>
              </a:path>
            </a:pathLst>
          </a:custGeom>
          <a:ln w="28575">
            <a:solidFill>
              <a:schemeClr val="accent4"/>
            </a:solidFill>
            <a:prstDash val="sysDot"/>
            <a:headEnd type="none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29ECCCEF-2874-4A08-A612-FF27EA36736D}"/>
              </a:ext>
            </a:extLst>
          </p:cNvPr>
          <p:cNvCxnSpPr>
            <a:cxnSpLocks/>
          </p:cNvCxnSpPr>
          <p:nvPr/>
        </p:nvCxnSpPr>
        <p:spPr>
          <a:xfrm flipH="1">
            <a:off x="3408843" y="3692094"/>
            <a:ext cx="1132839" cy="0"/>
          </a:xfrm>
          <a:prstGeom prst="line">
            <a:avLst/>
          </a:prstGeom>
          <a:ln w="25400">
            <a:solidFill>
              <a:schemeClr val="accent2"/>
            </a:solidFill>
            <a:prstDash val="sysDot"/>
            <a:headEnd type="none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CA07568A-7D21-4BD5-A342-23E1FA84713E}"/>
              </a:ext>
            </a:extLst>
          </p:cNvPr>
          <p:cNvCxnSpPr>
            <a:cxnSpLocks/>
          </p:cNvCxnSpPr>
          <p:nvPr/>
        </p:nvCxnSpPr>
        <p:spPr>
          <a:xfrm flipV="1">
            <a:off x="7631084" y="3694072"/>
            <a:ext cx="1132839" cy="0"/>
          </a:xfrm>
          <a:prstGeom prst="line">
            <a:avLst/>
          </a:prstGeom>
          <a:ln w="25400">
            <a:solidFill>
              <a:schemeClr val="accent3"/>
            </a:solidFill>
            <a:prstDash val="sysDot"/>
            <a:headEnd type="none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itle 1"/>
          <p:cNvSpPr>
            <a:spLocks noGrp="1"/>
          </p:cNvSpPr>
          <p:nvPr>
            <p:ph type="title"/>
          </p:nvPr>
        </p:nvSpPr>
        <p:spPr>
          <a:xfrm>
            <a:off x="618384" y="277759"/>
            <a:ext cx="10515600" cy="1325563"/>
          </a:xfrm>
        </p:spPr>
        <p:txBody>
          <a:bodyPr>
            <a:normAutofit/>
          </a:bodyPr>
          <a:lstStyle/>
          <a:p>
            <a:pPr algn="l"/>
            <a:r>
              <a:rPr lang="en-ZA" sz="3600" b="1" dirty="0"/>
              <a:t>Application Features</a:t>
            </a:r>
          </a:p>
        </p:txBody>
      </p:sp>
      <p:sp>
        <p:nvSpPr>
          <p:cNvPr id="48" name="Rectangle 47"/>
          <p:cNvSpPr/>
          <p:nvPr/>
        </p:nvSpPr>
        <p:spPr>
          <a:xfrm>
            <a:off x="522250" y="3604763"/>
            <a:ext cx="273819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fontAlgn="base">
              <a:spcAft>
                <a:spcPts val="1800"/>
              </a:spcAft>
            </a:pPr>
            <a:r>
              <a:rPr lang="en-US" sz="1200" dirty="0"/>
              <a:t>Users can create a profile for their missing child by uploading a photo and relevant details. </a:t>
            </a:r>
          </a:p>
        </p:txBody>
      </p:sp>
      <p:sp>
        <p:nvSpPr>
          <p:cNvPr id="49" name="Rectangle 48"/>
          <p:cNvSpPr/>
          <p:nvPr/>
        </p:nvSpPr>
        <p:spPr>
          <a:xfrm>
            <a:off x="994640" y="5229004"/>
            <a:ext cx="298606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rtl="1"/>
            <a:r>
              <a:rPr lang="en-US" sz="1200" dirty="0">
                <a:solidFill>
                  <a:srgbClr val="000000"/>
                </a:solidFill>
              </a:rPr>
              <a:t>Users upload a photo for a kid they believe may be missing and fill the needed information </a:t>
            </a:r>
            <a:endParaRPr lang="en-US" sz="1200" dirty="0"/>
          </a:p>
        </p:txBody>
      </p:sp>
    </p:spTree>
    <p:extLst>
      <p:ext uri="{BB962C8B-B14F-4D97-AF65-F5344CB8AC3E}">
        <p14:creationId xmlns:p14="http://schemas.microsoft.com/office/powerpoint/2010/main" val="91288200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708C79-A4AC-4B5D-92DF-600737E4D1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3600" dirty="0"/>
              <a:t>Functional Requirements</a:t>
            </a:r>
          </a:p>
        </p:txBody>
      </p:sp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pPr/>
              <a:t>14</a:t>
            </a:fld>
            <a:endParaRPr lang="en-US" sz="1050" b="1" dirty="0"/>
          </a:p>
        </p:txBody>
      </p:sp>
      <p:sp>
        <p:nvSpPr>
          <p:cNvPr id="5" name="Text Placeholder 3">
            <a:extLst>
              <a:ext uri="{FF2B5EF4-FFF2-40B4-BE49-F238E27FC236}">
                <a16:creationId xmlns:a16="http://schemas.microsoft.com/office/drawing/2014/main" id="{93667C51-2FB0-2807-4619-AF278F0D669D}"/>
              </a:ext>
            </a:extLst>
          </p:cNvPr>
          <p:cNvSpPr txBox="1">
            <a:spLocks/>
          </p:cNvSpPr>
          <p:nvPr/>
        </p:nvSpPr>
        <p:spPr>
          <a:xfrm>
            <a:off x="836612" y="1690688"/>
            <a:ext cx="8652399" cy="452547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>
              <a:buFont typeface="+mj-lt"/>
              <a:buAutoNum type="arabicPeriod"/>
            </a:pPr>
            <a:r>
              <a:rPr lang="en-US" sz="1600" b="1" dirty="0">
                <a:latin typeface="+mj-lt"/>
              </a:rPr>
              <a:t>Facial Recognition</a:t>
            </a:r>
          </a:p>
          <a:p>
            <a:pPr marL="0" indent="0">
              <a:buNone/>
            </a:pPr>
            <a:r>
              <a:rPr lang="en-US" sz="1400" b="1" dirty="0"/>
              <a:t>           Perform</a:t>
            </a:r>
            <a:r>
              <a:rPr lang="en-US" sz="1400" dirty="0"/>
              <a:t> facial recognition on photos uploaded by users.</a:t>
            </a:r>
          </a:p>
          <a:p>
            <a:pPr marL="0" indent="0">
              <a:buNone/>
            </a:pPr>
            <a:r>
              <a:rPr lang="en-US" sz="1600" b="1" dirty="0">
                <a:latin typeface="+mj-lt"/>
              </a:rPr>
              <a:t>2.   User Accounts</a:t>
            </a:r>
          </a:p>
          <a:p>
            <a:pPr marL="0" indent="0">
              <a:buNone/>
            </a:pPr>
            <a:r>
              <a:rPr lang="en-US" sz="1400" dirty="0"/>
              <a:t>           Allow users to create accounts with unique login credentials.</a:t>
            </a:r>
          </a:p>
          <a:p>
            <a:pPr marL="0" indent="0">
              <a:buNone/>
            </a:pPr>
            <a:r>
              <a:rPr lang="en-US" sz="1600" b="1" dirty="0">
                <a:latin typeface="+mj-lt"/>
              </a:rPr>
              <a:t>3.   Create A Missing Kid Profile</a:t>
            </a:r>
          </a:p>
          <a:p>
            <a:pPr marL="0" indent="0">
              <a:buNone/>
            </a:pPr>
            <a:r>
              <a:rPr lang="en-US" sz="1400" dirty="0"/>
              <a:t>           Perform facial recognition on photos uploaded by users.</a:t>
            </a:r>
            <a:endParaRPr lang="en-US" sz="1400" b="1" dirty="0"/>
          </a:p>
          <a:p>
            <a:pPr marL="0" indent="0">
              <a:buNone/>
            </a:pPr>
            <a:r>
              <a:rPr lang="en-US" sz="1600" b="1" dirty="0">
                <a:latin typeface="+mj-lt"/>
              </a:rPr>
              <a:t>4.   Add a found kid</a:t>
            </a:r>
          </a:p>
          <a:p>
            <a:pPr marL="0" indent="0">
              <a:buNone/>
            </a:pPr>
            <a:r>
              <a:rPr lang="en-US" sz="1400" dirty="0"/>
              <a:t>           Allow users to add a photo of a found kid.</a:t>
            </a:r>
            <a:endParaRPr lang="en-US" sz="1400" b="1" dirty="0">
              <a:latin typeface="+mj-lt"/>
            </a:endParaRPr>
          </a:p>
          <a:p>
            <a:pPr marL="0" indent="0">
              <a:buNone/>
            </a:pPr>
            <a:r>
              <a:rPr lang="en-US" sz="1600" b="1" dirty="0">
                <a:latin typeface="+mj-lt"/>
              </a:rPr>
              <a:t>5.   Search Functionality</a:t>
            </a:r>
          </a:p>
          <a:p>
            <a:pPr marL="0" indent="0">
              <a:buNone/>
            </a:pPr>
            <a:r>
              <a:rPr lang="en-US" sz="1400" dirty="0"/>
              <a:t>           Search the database for a match of an uploaded photo with facial recognition.</a:t>
            </a:r>
            <a:endParaRPr lang="en-US" sz="1400" b="1" dirty="0"/>
          </a:p>
          <a:p>
            <a:pPr marL="0" indent="0">
              <a:buNone/>
            </a:pPr>
            <a:r>
              <a:rPr lang="en-US" sz="1600" b="1" dirty="0">
                <a:latin typeface="+mj-lt"/>
              </a:rPr>
              <a:t>6.   Match Notification</a:t>
            </a:r>
          </a:p>
          <a:p>
            <a:pPr marL="0" indent="0">
              <a:buNone/>
            </a:pPr>
            <a:r>
              <a:rPr lang="en-US" sz="1400" dirty="0"/>
              <a:t>           Notify the user and the parent if there is a match of a missing kid.</a:t>
            </a:r>
            <a:endParaRPr lang="en-US" sz="1400" b="1" dirty="0"/>
          </a:p>
        </p:txBody>
      </p:sp>
    </p:spTree>
    <p:extLst>
      <p:ext uri="{BB962C8B-B14F-4D97-AF65-F5344CB8AC3E}">
        <p14:creationId xmlns:p14="http://schemas.microsoft.com/office/powerpoint/2010/main" val="222452707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67708C79-A4AC-4B5D-92DF-600737E4D1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3600" dirty="0"/>
              <a:t>Functional Requirements (Cont.)</a:t>
            </a:r>
          </a:p>
        </p:txBody>
      </p:sp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pPr/>
              <a:t>15</a:t>
            </a:fld>
            <a:endParaRPr lang="en-US" sz="1050" b="1" dirty="0"/>
          </a:p>
        </p:txBody>
      </p:sp>
      <p:sp>
        <p:nvSpPr>
          <p:cNvPr id="37" name="Text Placeholder 3">
            <a:extLst>
              <a:ext uri="{FF2B5EF4-FFF2-40B4-BE49-F238E27FC236}">
                <a16:creationId xmlns:a16="http://schemas.microsoft.com/office/drawing/2014/main" id="{5B240C7E-8055-5873-A024-CED34C357CE5}"/>
              </a:ext>
            </a:extLst>
          </p:cNvPr>
          <p:cNvSpPr txBox="1">
            <a:spLocks/>
          </p:cNvSpPr>
          <p:nvPr/>
        </p:nvSpPr>
        <p:spPr>
          <a:xfrm>
            <a:off x="838994" y="1690688"/>
            <a:ext cx="10514012" cy="4444998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 algn="just">
              <a:lnSpc>
                <a:spcPct val="100000"/>
              </a:lnSpc>
              <a:spcBef>
                <a:spcPts val="0"/>
              </a:spcBef>
              <a:buFont typeface="+mj-lt"/>
              <a:buAutoNum type="arabicPeriod" startAt="7"/>
            </a:pPr>
            <a:r>
              <a:rPr lang="en-US" sz="1600" b="1" dirty="0">
                <a:latin typeface="+mj-lt"/>
              </a:rPr>
              <a:t>Mark as found</a:t>
            </a:r>
          </a:p>
          <a:p>
            <a:pPr marL="457200" lvl="1" indent="0" algn="just">
              <a:lnSpc>
                <a:spcPct val="100000"/>
              </a:lnSpc>
              <a:spcBef>
                <a:spcPts val="0"/>
              </a:spcBef>
              <a:buNone/>
            </a:pPr>
            <a:r>
              <a:rPr lang="en-US" sz="1400" dirty="0"/>
              <a:t>Allow the user to mark his kid as found in case he finds him.</a:t>
            </a:r>
          </a:p>
          <a:p>
            <a:pPr marL="0" indent="0" algn="just">
              <a:lnSpc>
                <a:spcPct val="100000"/>
              </a:lnSpc>
              <a:spcBef>
                <a:spcPts val="0"/>
              </a:spcBef>
              <a:buNone/>
            </a:pPr>
            <a:endParaRPr lang="en-US" sz="1600" b="1" dirty="0">
              <a:latin typeface="+mj-lt"/>
            </a:endParaRPr>
          </a:p>
          <a:p>
            <a:pPr marL="342900" indent="-342900" algn="just">
              <a:lnSpc>
                <a:spcPct val="100000"/>
              </a:lnSpc>
              <a:spcBef>
                <a:spcPts val="0"/>
              </a:spcBef>
              <a:buFont typeface="+mj-lt"/>
              <a:buAutoNum type="arabicPeriod" startAt="8"/>
            </a:pPr>
            <a:r>
              <a:rPr lang="en-US" sz="1600" b="1" dirty="0">
                <a:latin typeface="+mj-lt"/>
              </a:rPr>
              <a:t>Update User Profiles</a:t>
            </a:r>
          </a:p>
          <a:p>
            <a:pPr marL="457200" lvl="1" indent="0" algn="just">
              <a:lnSpc>
                <a:spcPct val="100000"/>
              </a:lnSpc>
              <a:spcBef>
                <a:spcPts val="0"/>
              </a:spcBef>
              <a:buNone/>
            </a:pPr>
            <a:r>
              <a:rPr lang="en-US" sz="1400" dirty="0"/>
              <a:t>Allow users to view and update their own profiles, including personal information and contact details.</a:t>
            </a:r>
          </a:p>
          <a:p>
            <a:pPr marL="342900" indent="-342900" algn="just">
              <a:lnSpc>
                <a:spcPct val="100000"/>
              </a:lnSpc>
              <a:spcBef>
                <a:spcPts val="0"/>
              </a:spcBef>
              <a:buFont typeface="+mj-lt"/>
              <a:buAutoNum type="arabicPeriod" startAt="8"/>
            </a:pPr>
            <a:endParaRPr lang="en-US" sz="1400" b="1" dirty="0"/>
          </a:p>
          <a:p>
            <a:pPr marL="342900" indent="-342900" algn="just">
              <a:lnSpc>
                <a:spcPct val="100000"/>
              </a:lnSpc>
              <a:spcBef>
                <a:spcPts val="0"/>
              </a:spcBef>
              <a:buFont typeface="+mj-lt"/>
              <a:buAutoNum type="arabicPeriod" startAt="8"/>
            </a:pPr>
            <a:r>
              <a:rPr lang="en-US" sz="1600" b="1" dirty="0">
                <a:latin typeface="+mj-lt"/>
              </a:rPr>
              <a:t>Forget Password</a:t>
            </a:r>
          </a:p>
          <a:p>
            <a:pPr marL="457200" lvl="1" indent="0" algn="just">
              <a:lnSpc>
                <a:spcPct val="100000"/>
              </a:lnSpc>
              <a:spcBef>
                <a:spcPts val="0"/>
              </a:spcBef>
              <a:buNone/>
            </a:pPr>
            <a:r>
              <a:rPr lang="en-US" sz="1400" dirty="0">
                <a:latin typeface="Avenir Next LT Pro Light"/>
              </a:rPr>
              <a:t>Allow the user to reset his password in case he forgets it then verify the user’s identity through email.</a:t>
            </a:r>
          </a:p>
          <a:p>
            <a:pPr marL="342900" indent="-342900" algn="just">
              <a:lnSpc>
                <a:spcPct val="100000"/>
              </a:lnSpc>
              <a:buFont typeface="+mj-lt"/>
              <a:buAutoNum type="arabicPeriod" startAt="8"/>
            </a:pPr>
            <a:r>
              <a:rPr lang="en-US" sz="1600" b="1" dirty="0">
                <a:latin typeface="+mj-lt"/>
              </a:rPr>
              <a:t>Admin Panel</a:t>
            </a:r>
          </a:p>
          <a:p>
            <a:pPr marL="457200" lvl="1" indent="0" algn="just">
              <a:lnSpc>
                <a:spcPct val="100000"/>
              </a:lnSpc>
              <a:buNone/>
            </a:pPr>
            <a:r>
              <a:rPr lang="en-US" sz="1400" dirty="0">
                <a:latin typeface="Avenir Next LT Pro Light"/>
              </a:rPr>
              <a:t>A panel for authorized personnel to manage the database, including adding, deleting, and modifying kid profiles.</a:t>
            </a:r>
          </a:p>
          <a:p>
            <a:pPr marL="342900" indent="-342900" algn="just">
              <a:lnSpc>
                <a:spcPct val="100000"/>
              </a:lnSpc>
              <a:spcBef>
                <a:spcPts val="0"/>
              </a:spcBef>
              <a:buFont typeface="+mj-lt"/>
              <a:buAutoNum type="arabicPeriod" startAt="8"/>
            </a:pPr>
            <a:endParaRPr lang="en-US" sz="1400" dirty="0">
              <a:latin typeface="Avenir Next LT Pro Light"/>
            </a:endParaRPr>
          </a:p>
          <a:p>
            <a:pPr marL="342900" indent="-342900" algn="just">
              <a:lnSpc>
                <a:spcPct val="100000"/>
              </a:lnSpc>
              <a:spcBef>
                <a:spcPts val="0"/>
              </a:spcBef>
              <a:buFont typeface="+mj-lt"/>
              <a:buAutoNum type="arabicPeriod" startAt="8"/>
            </a:pPr>
            <a:r>
              <a:rPr lang="en-US" sz="1600" b="1" dirty="0">
                <a:latin typeface="+mj-lt"/>
              </a:rPr>
              <a:t>List Missing Kids</a:t>
            </a:r>
          </a:p>
          <a:p>
            <a:pPr marL="457200" lvl="1" indent="0" algn="just">
              <a:lnSpc>
                <a:spcPct val="100000"/>
              </a:lnSpc>
              <a:spcBef>
                <a:spcPts val="0"/>
              </a:spcBef>
              <a:buNone/>
            </a:pPr>
            <a:r>
              <a:rPr lang="en-US" sz="1400" dirty="0">
                <a:latin typeface="Avenir Next LT Pro Light"/>
              </a:rPr>
              <a:t>Allow users to view a list of all missing kids that have been added to the database by other users.</a:t>
            </a:r>
          </a:p>
          <a:p>
            <a:pPr marL="342900" indent="-342900" algn="just">
              <a:lnSpc>
                <a:spcPct val="100000"/>
              </a:lnSpc>
              <a:spcBef>
                <a:spcPts val="0"/>
              </a:spcBef>
              <a:buFont typeface="+mj-lt"/>
              <a:buAutoNum type="arabicPeriod" startAt="8"/>
            </a:pPr>
            <a:endParaRPr lang="en-US" sz="1400" dirty="0">
              <a:latin typeface="Avenir Next LT Pro Light"/>
            </a:endParaRPr>
          </a:p>
          <a:p>
            <a:pPr marL="342900" indent="-342900" algn="just">
              <a:lnSpc>
                <a:spcPct val="100000"/>
              </a:lnSpc>
              <a:spcBef>
                <a:spcPts val="0"/>
              </a:spcBef>
              <a:buFont typeface="+mj-lt"/>
              <a:buAutoNum type="arabicPeriod" startAt="8"/>
            </a:pPr>
            <a:r>
              <a:rPr lang="en-US" sz="1600" b="1" dirty="0">
                <a:latin typeface="+mj-lt"/>
              </a:rPr>
              <a:t>View Statistics</a:t>
            </a:r>
          </a:p>
          <a:p>
            <a:pPr marL="457200" lvl="1" indent="0" algn="just">
              <a:lnSpc>
                <a:spcPct val="100000"/>
              </a:lnSpc>
              <a:spcBef>
                <a:spcPts val="0"/>
              </a:spcBef>
              <a:buNone/>
            </a:pPr>
            <a:r>
              <a:rPr lang="en-US" sz="1400" dirty="0">
                <a:latin typeface="Avenir Next LT Pro Light"/>
              </a:rPr>
              <a:t>Allow admins or users to view statistics related to searches performed in the system, admins can choose to export the statistics to a file for further analysis.</a:t>
            </a:r>
          </a:p>
          <a:p>
            <a:pPr marL="457200" lvl="1" indent="0" algn="just">
              <a:lnSpc>
                <a:spcPct val="100000"/>
              </a:lnSpc>
              <a:spcBef>
                <a:spcPts val="0"/>
              </a:spcBef>
              <a:buNone/>
            </a:pPr>
            <a:endParaRPr lang="en-US" sz="1400" dirty="0">
              <a:latin typeface="Avenir Next LT Pro Light"/>
            </a:endParaRPr>
          </a:p>
          <a:p>
            <a:pPr marL="342900" indent="-342900" algn="just">
              <a:lnSpc>
                <a:spcPct val="100000"/>
              </a:lnSpc>
              <a:spcBef>
                <a:spcPts val="0"/>
              </a:spcBef>
              <a:buFont typeface="+mj-lt"/>
              <a:buAutoNum type="arabicPeriod" startAt="8"/>
            </a:pPr>
            <a:endParaRPr lang="en-US" sz="1400" dirty="0">
              <a:latin typeface="Avenir Next LT Pro Light"/>
            </a:endParaRPr>
          </a:p>
          <a:p>
            <a:pPr marL="342900" indent="-342900" algn="just">
              <a:lnSpc>
                <a:spcPct val="100000"/>
              </a:lnSpc>
              <a:spcBef>
                <a:spcPts val="0"/>
              </a:spcBef>
              <a:buFont typeface="+mj-lt"/>
              <a:buAutoNum type="arabicPeriod" startAt="8"/>
            </a:pPr>
            <a:endParaRPr lang="en-US" sz="1400" dirty="0">
              <a:latin typeface="Avenir Next LT Pro Light"/>
            </a:endParaRPr>
          </a:p>
          <a:p>
            <a:pPr marL="342900" indent="-342900" algn="just">
              <a:lnSpc>
                <a:spcPct val="100000"/>
              </a:lnSpc>
              <a:buFont typeface="+mj-lt"/>
              <a:buAutoNum type="arabicPeriod" startAt="8"/>
            </a:pPr>
            <a:endParaRPr lang="en-US" sz="1400" b="1" dirty="0"/>
          </a:p>
          <a:p>
            <a:pPr marL="342900" indent="-342900" algn="just">
              <a:lnSpc>
                <a:spcPct val="100000"/>
              </a:lnSpc>
              <a:spcBef>
                <a:spcPts val="0"/>
              </a:spcBef>
              <a:buFont typeface="+mj-lt"/>
              <a:buAutoNum type="arabicPeriod" startAt="8"/>
            </a:pPr>
            <a:endParaRPr lang="en-US" sz="1400" b="1" dirty="0"/>
          </a:p>
        </p:txBody>
      </p:sp>
    </p:spTree>
    <p:extLst>
      <p:ext uri="{BB962C8B-B14F-4D97-AF65-F5344CB8AC3E}">
        <p14:creationId xmlns:p14="http://schemas.microsoft.com/office/powerpoint/2010/main" val="306150416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67708C79-A4AC-4B5D-92DF-600737E4D1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l"/>
            <a:r>
              <a:rPr lang="en-US" sz="3600" dirty="0"/>
              <a:t>Non-Functional Requirements</a:t>
            </a:r>
          </a:p>
        </p:txBody>
      </p:sp>
      <p:sp>
        <p:nvSpPr>
          <p:cNvPr id="1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 txBox="1">
            <a:spLocks/>
          </p:cNvSpPr>
          <p:nvPr/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5CEABB6-07DC-46E8-9B57-56EC44A396E5}" type="slidenum">
              <a:rPr lang="en-US" sz="1600" b="1" smtClean="0"/>
              <a:pPr/>
              <a:t>16</a:t>
            </a:fld>
            <a:endParaRPr lang="en-US" sz="1600" b="1" dirty="0"/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626307A-F0DF-A29C-7A14-F9DEAE07EDAC}"/>
              </a:ext>
            </a:extLst>
          </p:cNvPr>
          <p:cNvSpPr txBox="1">
            <a:spLocks/>
          </p:cNvSpPr>
          <p:nvPr/>
        </p:nvSpPr>
        <p:spPr>
          <a:xfrm>
            <a:off x="838200" y="1690688"/>
            <a:ext cx="10515599" cy="4599286"/>
          </a:xfrm>
          <a:prstGeom prst="rect">
            <a:avLst/>
          </a:prstGeom>
        </p:spPr>
        <p:txBody>
          <a:bodyPr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 algn="just">
              <a:lnSpc>
                <a:spcPct val="120000"/>
              </a:lnSpc>
              <a:buFont typeface="+mj-lt"/>
              <a:buAutoNum type="arabicPeriod"/>
            </a:pPr>
            <a:r>
              <a:rPr lang="en-US" sz="1600" b="1" dirty="0">
                <a:latin typeface="+mj-lt"/>
              </a:rPr>
              <a:t>Performance</a:t>
            </a:r>
          </a:p>
          <a:p>
            <a:pPr marL="457200" lvl="1" indent="0" algn="just">
              <a:lnSpc>
                <a:spcPct val="120000"/>
              </a:lnSpc>
              <a:buNone/>
            </a:pPr>
            <a:r>
              <a:rPr lang="en-US" sz="1400" dirty="0"/>
              <a:t>Matching a photo of a missing kid quickly and accurately with a photo in the database.</a:t>
            </a:r>
          </a:p>
          <a:p>
            <a:pPr marL="342900" indent="-342900" algn="just">
              <a:lnSpc>
                <a:spcPct val="120000"/>
              </a:lnSpc>
              <a:buFont typeface="+mj-lt"/>
              <a:buAutoNum type="arabicPeriod"/>
            </a:pPr>
            <a:r>
              <a:rPr lang="en-US" sz="1600" b="1" dirty="0">
                <a:latin typeface="+mj-lt"/>
              </a:rPr>
              <a:t>Security</a:t>
            </a:r>
          </a:p>
          <a:p>
            <a:pPr marL="457200" lvl="1" indent="0" algn="just">
              <a:lnSpc>
                <a:spcPct val="120000"/>
              </a:lnSpc>
              <a:buNone/>
            </a:pPr>
            <a:r>
              <a:rPr lang="en-US" sz="1400" dirty="0"/>
              <a:t>Securing the database and protecting the users’ privacy, such as authorization and secure authentication methods.</a:t>
            </a:r>
          </a:p>
          <a:p>
            <a:pPr marL="342900" indent="-342900" algn="just">
              <a:lnSpc>
                <a:spcPct val="120000"/>
              </a:lnSpc>
              <a:buFont typeface="+mj-lt"/>
              <a:buAutoNum type="arabicPeriod"/>
            </a:pPr>
            <a:r>
              <a:rPr lang="en-US" sz="1600" b="1" dirty="0">
                <a:latin typeface="+mj-lt"/>
              </a:rPr>
              <a:t>Usability</a:t>
            </a:r>
          </a:p>
          <a:p>
            <a:pPr marL="457200" lvl="1" indent="0" algn="just">
              <a:lnSpc>
                <a:spcPct val="120000"/>
              </a:lnSpc>
              <a:buNone/>
            </a:pPr>
            <a:r>
              <a:rPr lang="en-US" sz="1400" dirty="0"/>
              <a:t>The User interface should be easy to understand and navigate. </a:t>
            </a:r>
            <a:endParaRPr lang="en-US" sz="1400" b="1" dirty="0"/>
          </a:p>
          <a:p>
            <a:pPr marL="342900" indent="-342900" algn="just">
              <a:lnSpc>
                <a:spcPct val="120000"/>
              </a:lnSpc>
              <a:buFont typeface="+mj-lt"/>
              <a:buAutoNum type="arabicPeriod" startAt="4"/>
            </a:pPr>
            <a:r>
              <a:rPr lang="en-US" sz="1600" b="1" dirty="0">
                <a:latin typeface="+mj-lt"/>
              </a:rPr>
              <a:t>Reliability</a:t>
            </a:r>
          </a:p>
          <a:p>
            <a:pPr marL="457200" lvl="1" indent="0" algn="just">
              <a:lnSpc>
                <a:spcPct val="120000"/>
              </a:lnSpc>
              <a:buNone/>
            </a:pPr>
            <a:r>
              <a:rPr lang="en-US" sz="1400" dirty="0"/>
              <a:t>The Application should be reliable, with minimal downtime and error rates.</a:t>
            </a:r>
          </a:p>
          <a:p>
            <a:pPr marL="342900" indent="-342900" algn="just">
              <a:lnSpc>
                <a:spcPct val="120000"/>
              </a:lnSpc>
              <a:buFont typeface="+mj-lt"/>
              <a:buAutoNum type="arabicPeriod" startAt="5"/>
            </a:pPr>
            <a:r>
              <a:rPr lang="en-US" sz="1600" b="1" dirty="0">
                <a:latin typeface="+mj-lt"/>
              </a:rPr>
              <a:t>Maintainability</a:t>
            </a:r>
          </a:p>
          <a:p>
            <a:pPr marL="457200" lvl="1" indent="0" algn="just">
              <a:lnSpc>
                <a:spcPct val="120000"/>
              </a:lnSpc>
              <a:buNone/>
            </a:pPr>
            <a:r>
              <a:rPr lang="en-US" sz="1400" dirty="0"/>
              <a:t>The Application should be easy to maintain, with regular updates and the ability to quickly fix any issues that may arise.</a:t>
            </a:r>
          </a:p>
          <a:p>
            <a:pPr marL="342900" indent="-342900" algn="just">
              <a:lnSpc>
                <a:spcPct val="120000"/>
              </a:lnSpc>
              <a:buFont typeface="+mj-lt"/>
              <a:buAutoNum type="arabicPeriod" startAt="6"/>
            </a:pPr>
            <a:r>
              <a:rPr lang="en-US" sz="1600" b="1" dirty="0">
                <a:latin typeface="+mj-lt"/>
              </a:rPr>
              <a:t>Cost</a:t>
            </a:r>
          </a:p>
          <a:p>
            <a:pPr marL="457200" lvl="1" indent="0" algn="just">
              <a:lnSpc>
                <a:spcPct val="120000"/>
              </a:lnSpc>
              <a:buNone/>
            </a:pPr>
            <a:r>
              <a:rPr lang="en-US" sz="1500" dirty="0"/>
              <a:t>The development and maintenance of the software should be cost-effective, with a balanced budget for technology and resources.</a:t>
            </a:r>
            <a:endParaRPr lang="en-US" sz="1700" b="1" dirty="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62072371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>
            <a:extLst>
              <a:ext uri="{FF2B5EF4-FFF2-40B4-BE49-F238E27FC236}">
                <a16:creationId xmlns:a16="http://schemas.microsoft.com/office/drawing/2014/main" id="{67708C79-A4AC-4B5D-92DF-600737E4D1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l"/>
            <a:r>
              <a:rPr lang="en-US" sz="3200" dirty="0"/>
              <a:t>System Architecture</a:t>
            </a:r>
          </a:p>
        </p:txBody>
      </p:sp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pPr/>
              <a:t>17</a:t>
            </a:fld>
            <a:endParaRPr lang="en-US" sz="1050" b="1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5EF0D71-BF22-C3C9-A5AA-C0A2AC05D612}"/>
              </a:ext>
            </a:extLst>
          </p:cNvPr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06C9AB7-8A9B-3B84-83E9-5331FACCC17F}"/>
              </a:ext>
            </a:extLst>
          </p:cNvPr>
          <p:cNvSpPr>
            <a:spLocks noGrp="1"/>
          </p:cNvSpPr>
          <p:nvPr>
            <p:ph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99A66EEF-3495-1C7F-B600-20265E2533E9}"/>
              </a:ext>
            </a:extLst>
          </p:cNvPr>
          <p:cNvSpPr>
            <a:spLocks noGrp="1"/>
          </p:cNvSpPr>
          <p:nvPr>
            <p:ph sz="quarter" idx="17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FBD96D3B-0122-6FB5-4248-61B962981D0D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85F7C482-FB09-5556-5B59-5C3B4FEABE1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49EFA98D-A5FD-CE16-A1F4-4AAB8E6C42F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2" name="Picture 1" descr="Diagram&#10;&#10;Description automatically generated">
            <a:extLst>
              <a:ext uri="{FF2B5EF4-FFF2-40B4-BE49-F238E27FC236}">
                <a16:creationId xmlns:a16="http://schemas.microsoft.com/office/drawing/2014/main" id="{5D104712-5720-E037-58D8-8F994318D0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61865" y="1364732"/>
            <a:ext cx="9868270" cy="46051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0328178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>
            <a:extLst>
              <a:ext uri="{FF2B5EF4-FFF2-40B4-BE49-F238E27FC236}">
                <a16:creationId xmlns:a16="http://schemas.microsoft.com/office/drawing/2014/main" id="{67708C79-A4AC-4B5D-92DF-600737E4D1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l"/>
            <a:r>
              <a:rPr lang="en-US" sz="3200" dirty="0"/>
              <a:t>Model Architecture</a:t>
            </a:r>
          </a:p>
        </p:txBody>
      </p:sp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pPr/>
              <a:t>18</a:t>
            </a:fld>
            <a:endParaRPr lang="en-US" sz="1050" b="1" dirty="0"/>
          </a:p>
        </p:txBody>
      </p:sp>
      <p:pic>
        <p:nvPicPr>
          <p:cNvPr id="14" name="Picture 13" descr="Diagram&#10;&#10;Description automatically generated">
            <a:extLst>
              <a:ext uri="{FF2B5EF4-FFF2-40B4-BE49-F238E27FC236}">
                <a16:creationId xmlns:a16="http://schemas.microsoft.com/office/drawing/2014/main" id="{99D73DE4-DCCD-2BFE-4A95-51C127979BB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90812" y="1571093"/>
            <a:ext cx="11062988" cy="37158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978276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 txBox="1">
            <a:spLocks/>
          </p:cNvSpPr>
          <p:nvPr/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5CEABB6-07DC-46E8-9B57-56EC44A396E5}" type="slidenum">
              <a:rPr lang="en-US" sz="1600" b="1" smtClean="0"/>
              <a:pPr/>
              <a:t>19</a:t>
            </a:fld>
            <a:endParaRPr lang="en-US" sz="1600" b="1" dirty="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59C55F19-0784-2935-F7C0-3D7516FE4D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5884" y="96716"/>
            <a:ext cx="10515600" cy="1325563"/>
          </a:xfrm>
        </p:spPr>
        <p:txBody>
          <a:bodyPr>
            <a:normAutofit/>
          </a:bodyPr>
          <a:lstStyle/>
          <a:p>
            <a:r>
              <a:rPr lang="en-US" sz="3200" dirty="0"/>
              <a:t>Entity Relationship Diagram (ERD) </a:t>
            </a:r>
          </a:p>
        </p:txBody>
      </p:sp>
      <p:pic>
        <p:nvPicPr>
          <p:cNvPr id="5" name="Picture 4" descr="Timeline&#10;&#10;Description automatically generated">
            <a:extLst>
              <a:ext uri="{FF2B5EF4-FFF2-40B4-BE49-F238E27FC236}">
                <a16:creationId xmlns:a16="http://schemas.microsoft.com/office/drawing/2014/main" id="{B86B86D9-2A2E-EE5E-DDF1-97FF1C3038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36475" y="759497"/>
            <a:ext cx="8719050" cy="548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753767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pPr/>
              <a:t>20</a:t>
            </a:fld>
            <a:endParaRPr lang="en-US" sz="1050" b="1" dirty="0"/>
          </a:p>
        </p:txBody>
      </p:sp>
      <p:sp>
        <p:nvSpPr>
          <p:cNvPr id="17" name="Title 1">
            <a:extLst>
              <a:ext uri="{FF2B5EF4-FFF2-40B4-BE49-F238E27FC236}">
                <a16:creationId xmlns:a16="http://schemas.microsoft.com/office/drawing/2014/main" id="{207A840B-4F15-7157-41B4-A45F00353F4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5151" y="-166968"/>
            <a:ext cx="10515600" cy="1325563"/>
          </a:xfrm>
        </p:spPr>
        <p:txBody>
          <a:bodyPr>
            <a:normAutofit/>
          </a:bodyPr>
          <a:lstStyle/>
          <a:p>
            <a:r>
              <a:rPr lang="en-US" sz="3200" dirty="0"/>
              <a:t>Use Case Diagram</a:t>
            </a: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559B416D-B58E-BAF4-1902-3D47ED806F8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30300" y="632339"/>
            <a:ext cx="8331400" cy="62256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2120005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lide Number Placeholder 147">
            <a:extLst>
              <a:ext uri="{FF2B5EF4-FFF2-40B4-BE49-F238E27FC236}">
                <a16:creationId xmlns:a16="http://schemas.microsoft.com/office/drawing/2014/main" id="{AC84C611-135E-234A-E614-7EA837689CDC}"/>
              </a:ext>
            </a:extLst>
          </p:cNvPr>
          <p:cNvSpPr txBox="1">
            <a:spLocks/>
          </p:cNvSpPr>
          <p:nvPr/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/>
          </a:p>
        </p:txBody>
      </p:sp>
      <p:sp>
        <p:nvSpPr>
          <p:cNvPr id="14" name="Slide Number Placeholder 147">
            <a:extLst>
              <a:ext uri="{FF2B5EF4-FFF2-40B4-BE49-F238E27FC236}">
                <a16:creationId xmlns:a16="http://schemas.microsoft.com/office/drawing/2014/main" id="{966AD412-7315-7613-BFBB-A84D444ADC88}"/>
              </a:ext>
            </a:extLst>
          </p:cNvPr>
          <p:cNvSpPr txBox="1">
            <a:spLocks/>
          </p:cNvSpPr>
          <p:nvPr/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5CEABB6-07DC-46E8-9B57-56EC44A396E5}" type="slidenum">
              <a:rPr lang="en-US" sz="1600" b="1" smtClean="0"/>
              <a:pPr/>
              <a:t>21</a:t>
            </a:fld>
            <a:endParaRPr lang="en-US" b="1" dirty="0"/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29251063-F040-3212-B8A5-8D82C18258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4338" y="-175847"/>
            <a:ext cx="10515600" cy="1325563"/>
          </a:xfrm>
        </p:spPr>
        <p:txBody>
          <a:bodyPr>
            <a:normAutofit/>
          </a:bodyPr>
          <a:lstStyle/>
          <a:p>
            <a:pPr algn="l"/>
            <a:r>
              <a:rPr lang="en-US" sz="3200" dirty="0"/>
              <a:t>Sequence Diagram 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8DCFC94-761B-3E6F-FCB8-F1C17109107A}"/>
              </a:ext>
            </a:extLst>
          </p:cNvPr>
          <p:cNvSpPr txBox="1"/>
          <p:nvPr/>
        </p:nvSpPr>
        <p:spPr>
          <a:xfrm>
            <a:off x="4829501" y="780384"/>
            <a:ext cx="232948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+mj-lt"/>
              </a:rPr>
              <a:t>Create a kid profile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564"/>
          <a:stretch/>
        </p:blipFill>
        <p:spPr>
          <a:xfrm>
            <a:off x="604515" y="965050"/>
            <a:ext cx="10615246" cy="59963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071272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lide Number Placeholder 147">
            <a:extLst>
              <a:ext uri="{FF2B5EF4-FFF2-40B4-BE49-F238E27FC236}">
                <a16:creationId xmlns:a16="http://schemas.microsoft.com/office/drawing/2014/main" id="{AC84C611-135E-234A-E614-7EA837689CDC}"/>
              </a:ext>
            </a:extLst>
          </p:cNvPr>
          <p:cNvSpPr txBox="1">
            <a:spLocks/>
          </p:cNvSpPr>
          <p:nvPr/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/>
          </a:p>
        </p:txBody>
      </p:sp>
      <p:sp>
        <p:nvSpPr>
          <p:cNvPr id="14" name="Slide Number Placeholder 147">
            <a:extLst>
              <a:ext uri="{FF2B5EF4-FFF2-40B4-BE49-F238E27FC236}">
                <a16:creationId xmlns:a16="http://schemas.microsoft.com/office/drawing/2014/main" id="{966AD412-7315-7613-BFBB-A84D444ADC88}"/>
              </a:ext>
            </a:extLst>
          </p:cNvPr>
          <p:cNvSpPr txBox="1">
            <a:spLocks/>
          </p:cNvSpPr>
          <p:nvPr/>
        </p:nvSpPr>
        <p:spPr>
          <a:xfrm>
            <a:off x="8610600" y="631190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5CEABB6-07DC-46E8-9B57-56EC44A396E5}" type="slidenum">
              <a:rPr lang="en-US" sz="1600" b="1" smtClean="0"/>
              <a:pPr/>
              <a:t>22</a:t>
            </a:fld>
            <a:endParaRPr lang="en-US" b="1" dirty="0"/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29251063-F040-3212-B8A5-8D82C18258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4338" y="-175847"/>
            <a:ext cx="10515600" cy="1325563"/>
          </a:xfrm>
        </p:spPr>
        <p:txBody>
          <a:bodyPr>
            <a:normAutofit/>
          </a:bodyPr>
          <a:lstStyle/>
          <a:p>
            <a:pPr algn="l"/>
            <a:r>
              <a:rPr lang="en-US" sz="3200" dirty="0"/>
              <a:t>Sequence Diagram 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8DCFC94-761B-3E6F-FCB8-F1C17109107A}"/>
              </a:ext>
            </a:extLst>
          </p:cNvPr>
          <p:cNvSpPr txBox="1"/>
          <p:nvPr/>
        </p:nvSpPr>
        <p:spPr>
          <a:xfrm>
            <a:off x="4829501" y="780384"/>
            <a:ext cx="194636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+mj-lt"/>
              </a:rPr>
              <a:t>Add a found kid</a:t>
            </a:r>
          </a:p>
        </p:txBody>
      </p:sp>
      <p:pic>
        <p:nvPicPr>
          <p:cNvPr id="4" name="Picture 3" descr="Diagram&#10;&#10;Description automatically generated">
            <a:extLst>
              <a:ext uri="{FF2B5EF4-FFF2-40B4-BE49-F238E27FC236}">
                <a16:creationId xmlns:a16="http://schemas.microsoft.com/office/drawing/2014/main" id="{D76211A9-9502-BC42-B0A8-B6BC973AF25B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-478" t="14259" r="478" b="-893"/>
          <a:stretch/>
        </p:blipFill>
        <p:spPr>
          <a:xfrm>
            <a:off x="918715" y="998289"/>
            <a:ext cx="10618947" cy="57231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9834629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A079E-4015-B71C-9D80-85BBEC4E4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62737" y="2766218"/>
            <a:ext cx="4950296" cy="1325563"/>
          </a:xfrm>
        </p:spPr>
        <p:txBody>
          <a:bodyPr/>
          <a:lstStyle/>
          <a:p>
            <a:r>
              <a:rPr lang="en-US" dirty="0"/>
              <a:t>6. App prototype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2F59CB0-DFD0-314A-D895-19529D591A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t>23</a:t>
            </a:fld>
            <a:endParaRPr lang="en-US" sz="1600" b="1" dirty="0"/>
          </a:p>
        </p:txBody>
      </p:sp>
    </p:spTree>
    <p:extLst>
      <p:ext uri="{BB962C8B-B14F-4D97-AF65-F5344CB8AC3E}">
        <p14:creationId xmlns:p14="http://schemas.microsoft.com/office/powerpoint/2010/main" val="141739137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 descr="Graphical user interface, text, application, chat or text message&#10;&#10;Description automatically generated">
            <a:extLst>
              <a:ext uri="{FF2B5EF4-FFF2-40B4-BE49-F238E27FC236}">
                <a16:creationId xmlns:a16="http://schemas.microsoft.com/office/drawing/2014/main" id="{C07EF7D5-2F46-9D7B-CAA7-1333820354B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922895" y="931077"/>
            <a:ext cx="2464721" cy="5334275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18" name="Picture 17" descr="Graphical user interface, text, application&#10;&#10;Description automatically generated">
            <a:extLst>
              <a:ext uri="{FF2B5EF4-FFF2-40B4-BE49-F238E27FC236}">
                <a16:creationId xmlns:a16="http://schemas.microsoft.com/office/drawing/2014/main" id="{D164F4E0-7C42-0102-2213-FD634894036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03660" y="905521"/>
            <a:ext cx="2441868" cy="5284815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20" name="Picture 19" descr="Graphical user interface, text&#10;&#10;Description automatically generated">
            <a:extLst>
              <a:ext uri="{FF2B5EF4-FFF2-40B4-BE49-F238E27FC236}">
                <a16:creationId xmlns:a16="http://schemas.microsoft.com/office/drawing/2014/main" id="{1E0721E6-FF3B-019F-16DA-1EC5F507714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6756" y="941190"/>
            <a:ext cx="2455376" cy="5314050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pPr/>
              <a:t>24</a:t>
            </a:fld>
            <a:endParaRPr lang="en-US" sz="1050" b="1" dirty="0"/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0503B8B5-D825-F869-F598-E89FA3C25C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6027" y="0"/>
            <a:ext cx="10515600" cy="1325563"/>
          </a:xfrm>
        </p:spPr>
        <p:txBody>
          <a:bodyPr>
            <a:normAutofit/>
          </a:bodyPr>
          <a:lstStyle/>
          <a:p>
            <a:pPr algn="l"/>
            <a:r>
              <a:rPr lang="en-US" sz="3200" dirty="0"/>
              <a:t>App prototype</a:t>
            </a:r>
          </a:p>
        </p:txBody>
      </p:sp>
      <p:pic>
        <p:nvPicPr>
          <p:cNvPr id="10" name="Picture 4">
            <a:extLst>
              <a:ext uri="{FF2B5EF4-FFF2-40B4-BE49-F238E27FC236}">
                <a16:creationId xmlns:a16="http://schemas.microsoft.com/office/drawing/2014/main" id="{35E1F595-54EF-A0DA-D113-5D4526F5B3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76125" y="612494"/>
            <a:ext cx="5296938" cy="58708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4">
            <a:extLst>
              <a:ext uri="{FF2B5EF4-FFF2-40B4-BE49-F238E27FC236}">
                <a16:creationId xmlns:a16="http://schemas.microsoft.com/office/drawing/2014/main" id="{802D314B-A442-71EB-C4CC-80154F2A91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06786" y="662780"/>
            <a:ext cx="5296938" cy="58708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4">
            <a:extLst>
              <a:ext uri="{FF2B5EF4-FFF2-40B4-BE49-F238E27FC236}">
                <a16:creationId xmlns:a16="http://schemas.microsoft.com/office/drawing/2014/main" id="{5B1A8466-FB16-32D6-9D50-9504482B91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83777" y="662780"/>
            <a:ext cx="5296938" cy="58708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2497741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 descr="Graphical user interface, text, application&#10;&#10;Description automatically generated">
            <a:extLst>
              <a:ext uri="{FF2B5EF4-FFF2-40B4-BE49-F238E27FC236}">
                <a16:creationId xmlns:a16="http://schemas.microsoft.com/office/drawing/2014/main" id="{60476AD4-A586-0699-4D53-A7E2E168F9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860182" y="928856"/>
            <a:ext cx="2471635" cy="5349240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5" name="Picture 4" descr="A screenshot of a phone&#10;&#10;Description automatically generated with medium confidence">
            <a:extLst>
              <a:ext uri="{FF2B5EF4-FFF2-40B4-BE49-F238E27FC236}">
                <a16:creationId xmlns:a16="http://schemas.microsoft.com/office/drawing/2014/main" id="{CA29735B-08BD-D0AF-160E-54A03415785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791491" y="917693"/>
            <a:ext cx="2471636" cy="5349240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16" name="Picture 4">
            <a:extLst>
              <a:ext uri="{FF2B5EF4-FFF2-40B4-BE49-F238E27FC236}">
                <a16:creationId xmlns:a16="http://schemas.microsoft.com/office/drawing/2014/main" id="{35E1F595-54EF-A0DA-D113-5D4526F5B3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78840" y="662781"/>
            <a:ext cx="5296938" cy="58708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6" descr="A screenshot of a phone&#10;&#10;Description automatically generated with medium confidence">
            <a:extLst>
              <a:ext uri="{FF2B5EF4-FFF2-40B4-BE49-F238E27FC236}">
                <a16:creationId xmlns:a16="http://schemas.microsoft.com/office/drawing/2014/main" id="{341DC1E4-0F0C-57A2-5410-691F2B5927E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1092" y="921429"/>
            <a:ext cx="2469908" cy="5345504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13" name="Picture 4">
            <a:extLst>
              <a:ext uri="{FF2B5EF4-FFF2-40B4-BE49-F238E27FC236}">
                <a16:creationId xmlns:a16="http://schemas.microsoft.com/office/drawing/2014/main" id="{5B1A8466-FB16-32D6-9D50-9504482B91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83777" y="662780"/>
            <a:ext cx="5296938" cy="58708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4">
            <a:extLst>
              <a:ext uri="{FF2B5EF4-FFF2-40B4-BE49-F238E27FC236}">
                <a16:creationId xmlns:a16="http://schemas.microsoft.com/office/drawing/2014/main" id="{802D314B-A442-71EB-C4CC-80154F2A91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47531" y="668041"/>
            <a:ext cx="5296938" cy="58708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pPr/>
              <a:t>25</a:t>
            </a:fld>
            <a:endParaRPr lang="en-US" sz="1050" b="1" dirty="0"/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0503B8B5-D825-F869-F598-E89FA3C25C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6027" y="0"/>
            <a:ext cx="10515600" cy="1325563"/>
          </a:xfrm>
        </p:spPr>
        <p:txBody>
          <a:bodyPr>
            <a:normAutofit/>
          </a:bodyPr>
          <a:lstStyle/>
          <a:p>
            <a:pPr algn="l"/>
            <a:r>
              <a:rPr lang="en-US" sz="3200" dirty="0"/>
              <a:t>App prototype</a:t>
            </a:r>
          </a:p>
        </p:txBody>
      </p:sp>
    </p:spTree>
    <p:extLst>
      <p:ext uri="{BB962C8B-B14F-4D97-AF65-F5344CB8AC3E}">
        <p14:creationId xmlns:p14="http://schemas.microsoft.com/office/powerpoint/2010/main" val="241364945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Graphical user interface, text, application&#10;&#10;Description automatically generated">
            <a:extLst>
              <a:ext uri="{FF2B5EF4-FFF2-40B4-BE49-F238E27FC236}">
                <a16:creationId xmlns:a16="http://schemas.microsoft.com/office/drawing/2014/main" id="{1E898595-7147-4EFF-542C-7771B346DA6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28872" y="923595"/>
            <a:ext cx="2471635" cy="5349240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3" name="Picture 2" descr="Graphical user interface&#10;&#10;Description automatically generated">
            <a:extLst>
              <a:ext uri="{FF2B5EF4-FFF2-40B4-BE49-F238E27FC236}">
                <a16:creationId xmlns:a16="http://schemas.microsoft.com/office/drawing/2014/main" id="{4D00BC3F-3238-EFFC-16D9-80662D18F55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791490" y="933457"/>
            <a:ext cx="2471635" cy="5349240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7" name="Picture 6" descr="Scatter chart&#10;&#10;Description automatically generated with medium confidence">
            <a:extLst>
              <a:ext uri="{FF2B5EF4-FFF2-40B4-BE49-F238E27FC236}">
                <a16:creationId xmlns:a16="http://schemas.microsoft.com/office/drawing/2014/main" id="{0A47670A-0708-35BE-EC9F-CE1F9AE1939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60182" y="933457"/>
            <a:ext cx="2471635" cy="5349240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13" name="Picture 4">
            <a:extLst>
              <a:ext uri="{FF2B5EF4-FFF2-40B4-BE49-F238E27FC236}">
                <a16:creationId xmlns:a16="http://schemas.microsoft.com/office/drawing/2014/main" id="{5B1A8466-FB16-32D6-9D50-9504482B91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83779" y="662780"/>
            <a:ext cx="5296938" cy="58708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4">
            <a:extLst>
              <a:ext uri="{FF2B5EF4-FFF2-40B4-BE49-F238E27FC236}">
                <a16:creationId xmlns:a16="http://schemas.microsoft.com/office/drawing/2014/main" id="{802D314B-A442-71EB-C4CC-80154F2A91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47531" y="668041"/>
            <a:ext cx="5296938" cy="58708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Picture 4">
            <a:extLst>
              <a:ext uri="{FF2B5EF4-FFF2-40B4-BE49-F238E27FC236}">
                <a16:creationId xmlns:a16="http://schemas.microsoft.com/office/drawing/2014/main" id="{35E1F595-54EF-A0DA-D113-5D4526F5B3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78840" y="662781"/>
            <a:ext cx="5296938" cy="58708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pPr/>
              <a:t>26</a:t>
            </a:fld>
            <a:endParaRPr lang="en-US" sz="1050" b="1" dirty="0"/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0503B8B5-D825-F869-F598-E89FA3C25C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6027" y="0"/>
            <a:ext cx="10515600" cy="1325563"/>
          </a:xfrm>
        </p:spPr>
        <p:txBody>
          <a:bodyPr>
            <a:normAutofit/>
          </a:bodyPr>
          <a:lstStyle/>
          <a:p>
            <a:pPr algn="l"/>
            <a:r>
              <a:rPr lang="en-US" sz="3200" dirty="0"/>
              <a:t>App prototype</a:t>
            </a:r>
          </a:p>
        </p:txBody>
      </p:sp>
    </p:spTree>
    <p:extLst>
      <p:ext uri="{BB962C8B-B14F-4D97-AF65-F5344CB8AC3E}">
        <p14:creationId xmlns:p14="http://schemas.microsoft.com/office/powerpoint/2010/main" val="423109737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 descr="Graphical user interface&#10;&#10;Description automatically generated">
            <a:extLst>
              <a:ext uri="{FF2B5EF4-FFF2-40B4-BE49-F238E27FC236}">
                <a16:creationId xmlns:a16="http://schemas.microsoft.com/office/drawing/2014/main" id="{03F6DC1E-09E7-EBDC-8F71-7ED9D9181DA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28873" y="923595"/>
            <a:ext cx="2471635" cy="5349240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13" name="Picture 4">
            <a:extLst>
              <a:ext uri="{FF2B5EF4-FFF2-40B4-BE49-F238E27FC236}">
                <a16:creationId xmlns:a16="http://schemas.microsoft.com/office/drawing/2014/main" id="{5B1A8466-FB16-32D6-9D50-9504482B91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83777" y="662780"/>
            <a:ext cx="5296938" cy="58708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2" descr="Table&#10;&#10;Description automatically generated">
            <a:extLst>
              <a:ext uri="{FF2B5EF4-FFF2-40B4-BE49-F238E27FC236}">
                <a16:creationId xmlns:a16="http://schemas.microsoft.com/office/drawing/2014/main" id="{D70E2D4D-7348-B278-942A-43E97463AB4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91490" y="923595"/>
            <a:ext cx="2471635" cy="5349240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7" name="Picture 6" descr="Graphical user interface, text, application, chat or text message&#10;&#10;Description automatically generated">
            <a:extLst>
              <a:ext uri="{FF2B5EF4-FFF2-40B4-BE49-F238E27FC236}">
                <a16:creationId xmlns:a16="http://schemas.microsoft.com/office/drawing/2014/main" id="{3D99BDE5-0C93-811E-490C-94893F51D10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860182" y="923595"/>
            <a:ext cx="2471635" cy="5349240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15" name="Picture 4">
            <a:extLst>
              <a:ext uri="{FF2B5EF4-FFF2-40B4-BE49-F238E27FC236}">
                <a16:creationId xmlns:a16="http://schemas.microsoft.com/office/drawing/2014/main" id="{802D314B-A442-71EB-C4CC-80154F2A91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47531" y="668041"/>
            <a:ext cx="5296938" cy="58708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Picture 4">
            <a:extLst>
              <a:ext uri="{FF2B5EF4-FFF2-40B4-BE49-F238E27FC236}">
                <a16:creationId xmlns:a16="http://schemas.microsoft.com/office/drawing/2014/main" id="{35E1F595-54EF-A0DA-D113-5D4526F5B3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78840" y="662781"/>
            <a:ext cx="5296938" cy="58708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pPr/>
              <a:t>27</a:t>
            </a:fld>
            <a:endParaRPr lang="en-US" sz="1050" b="1" dirty="0"/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0503B8B5-D825-F869-F598-E89FA3C25C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6027" y="0"/>
            <a:ext cx="10515600" cy="1325563"/>
          </a:xfrm>
        </p:spPr>
        <p:txBody>
          <a:bodyPr>
            <a:normAutofit/>
          </a:bodyPr>
          <a:lstStyle/>
          <a:p>
            <a:pPr algn="l"/>
            <a:r>
              <a:rPr lang="en-US" sz="3200" dirty="0"/>
              <a:t>App prototype</a:t>
            </a:r>
          </a:p>
        </p:txBody>
      </p:sp>
    </p:spTree>
    <p:extLst>
      <p:ext uri="{BB962C8B-B14F-4D97-AF65-F5344CB8AC3E}">
        <p14:creationId xmlns:p14="http://schemas.microsoft.com/office/powerpoint/2010/main" val="198073293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Graphical user interface, text, application&#10;&#10;Description automatically generated">
            <a:extLst>
              <a:ext uri="{FF2B5EF4-FFF2-40B4-BE49-F238E27FC236}">
                <a16:creationId xmlns:a16="http://schemas.microsoft.com/office/drawing/2014/main" id="{F9DC78E3-100F-B048-9D6B-4BF5026EDA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185355" y="908125"/>
            <a:ext cx="2471635" cy="5349240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5" name="Picture 4" descr="A picture containing text&#10;&#10;Description automatically generated">
            <a:extLst>
              <a:ext uri="{FF2B5EF4-FFF2-40B4-BE49-F238E27FC236}">
                <a16:creationId xmlns:a16="http://schemas.microsoft.com/office/drawing/2014/main" id="{D95B2229-CC74-0AFB-CEE3-D3ECDAD24E1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74148" y="908125"/>
            <a:ext cx="2471635" cy="5349240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13" name="Picture 4">
            <a:extLst>
              <a:ext uri="{FF2B5EF4-FFF2-40B4-BE49-F238E27FC236}">
                <a16:creationId xmlns:a16="http://schemas.microsoft.com/office/drawing/2014/main" id="{5B1A8466-FB16-32D6-9D50-9504482B91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70373" y="662779"/>
            <a:ext cx="5296938" cy="58708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4">
            <a:extLst>
              <a:ext uri="{FF2B5EF4-FFF2-40B4-BE49-F238E27FC236}">
                <a16:creationId xmlns:a16="http://schemas.microsoft.com/office/drawing/2014/main" id="{802D314B-A442-71EB-C4CC-80154F2A91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3827" y="662778"/>
            <a:ext cx="5296938" cy="58708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pPr/>
              <a:t>28</a:t>
            </a:fld>
            <a:endParaRPr lang="en-US" sz="1050" b="1" dirty="0"/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0503B8B5-D825-F869-F598-E89FA3C25C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6027" y="0"/>
            <a:ext cx="10515600" cy="1325563"/>
          </a:xfrm>
        </p:spPr>
        <p:txBody>
          <a:bodyPr>
            <a:normAutofit/>
          </a:bodyPr>
          <a:lstStyle/>
          <a:p>
            <a:pPr algn="l"/>
            <a:r>
              <a:rPr lang="en-US" sz="3200" dirty="0"/>
              <a:t>App prototype</a:t>
            </a:r>
          </a:p>
        </p:txBody>
      </p:sp>
    </p:spTree>
    <p:extLst>
      <p:ext uri="{BB962C8B-B14F-4D97-AF65-F5344CB8AC3E}">
        <p14:creationId xmlns:p14="http://schemas.microsoft.com/office/powerpoint/2010/main" val="206895930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A079E-4015-B71C-9D80-85BBEC4E4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62737" y="2766218"/>
            <a:ext cx="4950296" cy="1325563"/>
          </a:xfrm>
        </p:spPr>
        <p:txBody>
          <a:bodyPr/>
          <a:lstStyle/>
          <a:p>
            <a:r>
              <a:rPr lang="en-US" dirty="0"/>
              <a:t>7. Project plan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2F59CB0-DFD0-314A-D895-19529D591A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t>29</a:t>
            </a:fld>
            <a:endParaRPr lang="en-US" sz="1600" b="1" dirty="0"/>
          </a:p>
        </p:txBody>
      </p:sp>
    </p:spTree>
    <p:extLst>
      <p:ext uri="{BB962C8B-B14F-4D97-AF65-F5344CB8AC3E}">
        <p14:creationId xmlns:p14="http://schemas.microsoft.com/office/powerpoint/2010/main" val="313663676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>
            <a:extLst>
              <a:ext uri="{FF2B5EF4-FFF2-40B4-BE49-F238E27FC236}">
                <a16:creationId xmlns:a16="http://schemas.microsoft.com/office/drawing/2014/main" id="{7AA3D576-235D-FAFF-217A-7548414B38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l"/>
            <a:r>
              <a:rPr lang="en-US" sz="3200" dirty="0"/>
              <a:t>Project plan</a:t>
            </a:r>
          </a:p>
        </p:txBody>
      </p:sp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pPr/>
              <a:t>30</a:t>
            </a:fld>
            <a:endParaRPr lang="en-US" sz="1050" b="1" dirty="0"/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728FC120-044F-CFEE-0930-A51E534359A7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227D6037-F04B-18B4-1DCD-C9EC9FAA614A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B24697F5-6C3E-A845-5EC5-3AAE8D2C3528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28E1C0C3-6C74-3E85-E20B-4C422BA5F85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D36462A2-8D41-5836-654B-A39F8A3A54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FED46D07-AC03-782F-0A5F-D1B796804C53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CB6942D3-0AD0-56A5-73BA-A412FFF0FC4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0245" y="1465471"/>
            <a:ext cx="10111509" cy="44486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083630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A079E-4015-B71C-9D80-85BBEC4E4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62737" y="2766218"/>
            <a:ext cx="4950296" cy="1325563"/>
          </a:xfrm>
        </p:spPr>
        <p:txBody>
          <a:bodyPr/>
          <a:lstStyle/>
          <a:p>
            <a:r>
              <a:rPr lang="en-US" dirty="0"/>
              <a:t>8. conclusion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2F59CB0-DFD0-314A-D895-19529D591A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t>31</a:t>
            </a:fld>
            <a:endParaRPr lang="en-US" sz="1600" b="1" dirty="0"/>
          </a:p>
        </p:txBody>
      </p:sp>
    </p:spTree>
    <p:extLst>
      <p:ext uri="{BB962C8B-B14F-4D97-AF65-F5344CB8AC3E}">
        <p14:creationId xmlns:p14="http://schemas.microsoft.com/office/powerpoint/2010/main" val="335693862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708C79-A4AC-4B5D-92DF-600737E4D1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conclusion</a:t>
            </a:r>
          </a:p>
        </p:txBody>
      </p:sp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pPr/>
              <a:t>32</a:t>
            </a:fld>
            <a:endParaRPr lang="en-US" sz="1600" b="1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98076C8-8308-C51F-5B37-619A72F12305}"/>
              </a:ext>
            </a:extLst>
          </p:cNvPr>
          <p:cNvSpPr txBox="1"/>
          <p:nvPr/>
        </p:nvSpPr>
        <p:spPr>
          <a:xfrm>
            <a:off x="836612" y="2136338"/>
            <a:ext cx="10515600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Wingdings" panose="05000000000000000000" pitchFamily="2" charset="2"/>
              <a:buChar char="§"/>
            </a:pPr>
            <a:r>
              <a:rPr lang="en-US" dirty="0"/>
              <a:t>To recap, </a:t>
            </a:r>
            <a:r>
              <a:rPr lang="en-US" sz="1800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The goal of the project is to ensure that </a:t>
            </a:r>
            <a:r>
              <a:rPr lang="en-US" sz="1800" b="1" dirty="0">
                <a:effectLst/>
                <a:ea typeface="Calibri" panose="020F0502020204030204" pitchFamily="34" charset="0"/>
                <a:cs typeface="Arial" panose="020B0604020202020204" pitchFamily="34" charset="0"/>
              </a:rPr>
              <a:t>most of the missing kids return to their families.</a:t>
            </a:r>
            <a:endParaRPr lang="en-US" sz="1800" dirty="0">
              <a:effectLst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pitchFamily="2" charset="2"/>
              <a:buChar char="§"/>
            </a:pPr>
            <a:endParaRPr lang="en-US" dirty="0"/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en-US" dirty="0"/>
              <a:t>Our application idea is that the parent creates a profile for his missing kid, so when anyone finds the kid and uploads the photo to the app the application starts to search through facial recognition.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endParaRPr lang="en-US" dirty="0"/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en-US" dirty="0"/>
              <a:t>We're very enthusiastic to work on solving this problem especially since Egypt is one of the top five countries in the area suffering from it.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3597241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87031B1-D94D-5A77-3D41-BBD267741C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Presented by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1441D4A-8915-0C1D-0798-22D653D2E3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z="1600" b="1" smtClean="0"/>
              <a:t>33</a:t>
            </a:fld>
            <a:endParaRPr lang="en-US" sz="1600" b="1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98D14CE3-7E4A-E52D-230D-820DECACB3A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rmAutofit lnSpcReduction="10000"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Islam Sameh Ibrahim</a:t>
            </a: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Hams Ayman El Said</a:t>
            </a: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00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Saif</a:t>
            </a:r>
            <a:r>
              <a:rPr kumimoji="0" lang="en-US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</a:t>
            </a:r>
            <a:r>
              <a:rPr kumimoji="0" lang="en-US" sz="200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Eldin</a:t>
            </a:r>
            <a:r>
              <a:rPr kumimoji="0" lang="en-US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Aly Mahmoud</a:t>
            </a: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00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Mennat-allah</a:t>
            </a:r>
            <a:r>
              <a:rPr kumimoji="0" lang="en-US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Adel Hussein</a:t>
            </a: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Ahmed Magdy Abdelfattah</a:t>
            </a:r>
          </a:p>
        </p:txBody>
      </p:sp>
    </p:spTree>
    <p:extLst>
      <p:ext uri="{BB962C8B-B14F-4D97-AF65-F5344CB8AC3E}">
        <p14:creationId xmlns:p14="http://schemas.microsoft.com/office/powerpoint/2010/main" val="50162412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itle 35">
            <a:extLst>
              <a:ext uri="{FF2B5EF4-FFF2-40B4-BE49-F238E27FC236}">
                <a16:creationId xmlns:a16="http://schemas.microsoft.com/office/drawing/2014/main" id="{3FB3C754-C1FE-4D2D-9890-A8353F1E8D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83036" y="2483369"/>
            <a:ext cx="4306824" cy="1325563"/>
          </a:xfrm>
        </p:spPr>
        <p:txBody>
          <a:bodyPr/>
          <a:lstStyle/>
          <a:p>
            <a:r>
              <a:rPr lang="en-US" dirty="0"/>
              <a:t>THANK YOU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019A024-2FD1-4C73-AC55-A794E56E4F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B5CEABB6-07DC-46E8-9B57-56EC44A396E5}" type="slidenum">
              <a:rPr lang="en-US" sz="1600" b="1" smtClean="0"/>
              <a:pPr/>
              <a:t>34</a:t>
            </a:fld>
            <a:endParaRPr lang="en-US" sz="1600" b="1" dirty="0"/>
          </a:p>
        </p:txBody>
      </p:sp>
    </p:spTree>
    <p:extLst>
      <p:ext uri="{BB962C8B-B14F-4D97-AF65-F5344CB8AC3E}">
        <p14:creationId xmlns:p14="http://schemas.microsoft.com/office/powerpoint/2010/main" val="213567368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Architecture pitch deck_JB_v2" id="{E6E25CD2-8512-4B49-9A83-9AC317278B8F}" vid="{100AFDCD-A339-4D94-B373-F9848C2D26BE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1" ma:contentTypeDescription="Create a new document." ma:contentTypeScope="" ma:versionID="64dfb1555687e0874b4304b796b5b0c7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e6e4c555b5e194d05b7203de9c4567b3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Props1.xml><?xml version="1.0" encoding="utf-8"?>
<ds:datastoreItem xmlns:ds="http://schemas.openxmlformats.org/officeDocument/2006/customXml" ds:itemID="{4D2E8E18-726E-43C2-A873-C7E26FC0A96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8042A908-4308-42B2-AD36-76827C57E704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F7069D1F-6C1F-4FA3-8CCB-EA801E558BEC}">
  <ds:schemaRefs>
    <ds:schemaRef ds:uri="http://schemas.microsoft.com/office/2006/metadata/properties"/>
    <ds:schemaRef ds:uri="http://schemas.microsoft.com/sharepoint/v3"/>
    <ds:schemaRef ds:uri="16c05727-aa75-4e4a-9b5f-8a80a1165891"/>
    <ds:schemaRef ds:uri="http://purl.org/dc/elements/1.1/"/>
    <ds:schemaRef ds:uri="http://schemas.microsoft.com/office/infopath/2007/PartnerControls"/>
    <ds:schemaRef ds:uri="71af3243-3dd4-4a8d-8c0d-dd76da1f02a5"/>
    <ds:schemaRef ds:uri="http://purl.org/dc/terms/"/>
    <ds:schemaRef ds:uri="http://schemas.microsoft.com/office/2006/documentManagement/types"/>
    <ds:schemaRef ds:uri="http://purl.org/dc/dcmitype/"/>
    <ds:schemaRef ds:uri="http://schemas.openxmlformats.org/package/2006/metadata/core-properties"/>
    <ds:schemaRef ds:uri="230e9df3-be65-4c73-a93b-d1236ebd677e"/>
    <ds:schemaRef ds:uri="http://www.w3.org/XML/1998/namespace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{D1B55BEA-FC9C-47B3-8135-EFEDB8FC306A}tf16411248_win32</Template>
  <TotalTime>1737</TotalTime>
  <Words>1182</Words>
  <Application>Microsoft Office PowerPoint</Application>
  <PresentationFormat>Widescreen</PresentationFormat>
  <Paragraphs>233</Paragraphs>
  <Slides>34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34</vt:i4>
      </vt:variant>
    </vt:vector>
  </HeadingPairs>
  <TitlesOfParts>
    <vt:vector size="42" baseType="lpstr">
      <vt:lpstr>Arial</vt:lpstr>
      <vt:lpstr>Avenir Next LT Pro Light</vt:lpstr>
      <vt:lpstr>Calibri</vt:lpstr>
      <vt:lpstr>Posterama</vt:lpstr>
      <vt:lpstr>Times New Roman</vt:lpstr>
      <vt:lpstr>Wingdings</vt:lpstr>
      <vt:lpstr>Yeseva One</vt:lpstr>
      <vt:lpstr>Office Theme</vt:lpstr>
      <vt:lpstr>safe kids 2022 - 2023</vt:lpstr>
      <vt:lpstr>Outlines</vt:lpstr>
      <vt:lpstr>1. introduction</vt:lpstr>
      <vt:lpstr>introduction</vt:lpstr>
      <vt:lpstr>2. Problem statement</vt:lpstr>
      <vt:lpstr>Problem statement</vt:lpstr>
      <vt:lpstr>3. Objective</vt:lpstr>
      <vt:lpstr>Objective</vt:lpstr>
      <vt:lpstr>4. Related work</vt:lpstr>
      <vt:lpstr>Related work</vt:lpstr>
      <vt:lpstr>5. Proposed    work</vt:lpstr>
      <vt:lpstr>What We Will Talk About In This Section?</vt:lpstr>
      <vt:lpstr>Application Features</vt:lpstr>
      <vt:lpstr>Functional Requirements</vt:lpstr>
      <vt:lpstr>Functional Requirements (Cont.)</vt:lpstr>
      <vt:lpstr>Non-Functional Requirements</vt:lpstr>
      <vt:lpstr>System Architecture</vt:lpstr>
      <vt:lpstr>Model Architecture</vt:lpstr>
      <vt:lpstr>Entity Relationship Diagram (ERD) </vt:lpstr>
      <vt:lpstr>Use Case Diagram</vt:lpstr>
      <vt:lpstr>Sequence Diagram </vt:lpstr>
      <vt:lpstr>Sequence Diagram </vt:lpstr>
      <vt:lpstr>6. App prototype</vt:lpstr>
      <vt:lpstr>App prototype</vt:lpstr>
      <vt:lpstr>App prototype</vt:lpstr>
      <vt:lpstr>App prototype</vt:lpstr>
      <vt:lpstr>App prototype</vt:lpstr>
      <vt:lpstr>App prototype</vt:lpstr>
      <vt:lpstr>7. Project plan</vt:lpstr>
      <vt:lpstr>Project plan</vt:lpstr>
      <vt:lpstr>8. conclusion</vt:lpstr>
      <vt:lpstr>conclusion</vt:lpstr>
      <vt:lpstr>Presented by</vt:lpstr>
      <vt:lpstr>THANK YOU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safe kids</dc:title>
  <dc:creator>اسلام سامح ابراهيم عبدالجليل دياب</dc:creator>
  <cp:lastModifiedBy>سيف الدين علي محمود علي</cp:lastModifiedBy>
  <cp:revision>59</cp:revision>
  <dcterms:created xsi:type="dcterms:W3CDTF">2023-02-22T17:37:51Z</dcterms:created>
  <dcterms:modified xsi:type="dcterms:W3CDTF">2023-02-26T22:42:50Z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